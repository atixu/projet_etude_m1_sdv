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589520" y="1097280"/>
            <a:ext cx="4297680" cy="475488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0" y="201168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3749039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NLP &amp; 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4A5F"/>
                </a:solidFill>
              </a:rPr>
              <a:t>PROJET THUMALIEN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6766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Détection de
Fake News
sur Bluesky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297680"/>
            <a:ext cx="274320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480560"/>
            <a:ext cx="6766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A623"/>
                </a:solidFill>
              </a:rPr>
              <a:t>Pipeline NLP · Analyse émotionnelle · Score de crédibilité · Dashboard 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943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6573"/>
                </a:solidFill>
              </a:rPr>
              <a:t>Master 1 Big Data &amp; IA  ·  SUP DE VINCI  ·  Juin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Sommaire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502920" cy="777240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1234440"/>
            <a:ext cx="4846320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435608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Contexte et problématique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234440"/>
            <a:ext cx="502920" cy="777240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37960" y="1234440"/>
            <a:ext cx="4846320" cy="7772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141732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435608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Objectifs et architecture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103120"/>
            <a:ext cx="502920" cy="777240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43000" y="2103120"/>
            <a:ext cx="4846320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28600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304288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Pipeline technique — 5 étapes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103120"/>
            <a:ext cx="502920" cy="777240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37960" y="2103120"/>
            <a:ext cx="4846320" cy="7772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0760" y="228600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304288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Résultats obtenus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2971800"/>
            <a:ext cx="502920" cy="777240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43000" y="2971800"/>
            <a:ext cx="4846320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15468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3172968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Dashboard et démonstration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2971800"/>
            <a:ext cx="502920" cy="777240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37960" y="2971800"/>
            <a:ext cx="4846320" cy="7772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80760" y="315468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72968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Perspectives d'amélioration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657600"/>
            <a:ext cx="457200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Contexte et problématique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Contexte — Un défi mondial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463040" cy="1051560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17320"/>
            <a:ext cx="1417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500 M+</a:t>
            </a:r>
          </a:p>
        </p:txBody>
      </p:sp>
      <p:sp>
        <p:nvSpPr>
          <p:cNvPr id="8" name="Rectangle 7"/>
          <p:cNvSpPr/>
          <p:nvPr/>
        </p:nvSpPr>
        <p:spPr>
          <a:xfrm>
            <a:off x="2057400" y="1234440"/>
            <a:ext cx="9601200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1490472"/>
            <a:ext cx="9326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messages publiés/jour sur les réseaux sociaux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14600"/>
            <a:ext cx="1463040" cy="1051560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697480"/>
            <a:ext cx="1417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6×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57400" y="2514600"/>
            <a:ext cx="9601200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94560" y="2770632"/>
            <a:ext cx="9326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les fake news se propagent 6× plus vite que les vraies informations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794760"/>
            <a:ext cx="1463040" cy="1051560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977640"/>
            <a:ext cx="1417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70%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57400" y="3794760"/>
            <a:ext cx="9601200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94560" y="4050792"/>
            <a:ext cx="9326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des internautes ont déjà partagé une information fausse sans le savoir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074920"/>
            <a:ext cx="1463040" cy="1051560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5257800"/>
            <a:ext cx="1417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Bluesky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57400" y="5074920"/>
            <a:ext cx="9601200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94560" y="5330952"/>
            <a:ext cx="9326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réseau décentralisé en forte croissance, peu couvert par les outils existants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Problématique identifiée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557784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502920" cy="2240280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3716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D1B2A"/>
                </a:solidFill>
              </a:rPr>
              <a:t>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37160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</a:rPr>
              <a:t>Volume impossible à modérer manuellement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01168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6573"/>
                </a:solidFill>
              </a:rPr>
              <a:t>Des milliers de posts par heure, impossible pour une équipe humaine.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234440"/>
            <a:ext cx="557784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234440"/>
            <a:ext cx="502920" cy="2240280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13716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D1B2A"/>
                </a:solidFill>
              </a:rPr>
              <a:t>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37160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</a:rPr>
              <a:t>Propagation plus rapide que les démentis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01168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6573"/>
                </a:solidFill>
              </a:rPr>
              <a:t>Une fake news virale avant même d'être vérifiée.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657600"/>
            <a:ext cx="557784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657600"/>
            <a:ext cx="502920" cy="2240280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37947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D1B2A"/>
                </a:solidFill>
              </a:rPr>
              <a:t>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79476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</a:rPr>
              <a:t>Outils limités à l'anglais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43484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6573"/>
                </a:solidFill>
              </a:rPr>
              <a:t>Peu de solutions couvrent le français sur les nouveaux réseaux.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3657600"/>
            <a:ext cx="557784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3657600"/>
            <a:ext cx="502920" cy="2240280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37947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D1B2A"/>
                </a:solidFill>
              </a:rPr>
              <a:t>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379476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</a:rPr>
              <a:t>Impact émotionnel ignoré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443484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6573"/>
                </a:solidFill>
              </a:rPr>
              <a:t>La colère et la peur amplifient la viralité — aucun outil ne le mesure.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657600"/>
            <a:ext cx="457200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Objectifs et architecture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Objectifs du projet Thumalien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3657600" cy="2286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3657600" cy="59436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🔗  Collecter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4F8"/>
                </a:solidFill>
              </a:rPr>
              <a:t>Posts Bluesky FR/EN via API officielle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234440"/>
            <a:ext cx="3657600" cy="2286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234440"/>
            <a:ext cx="3657600" cy="59436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3258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🤖  Classifier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01168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4F8"/>
                </a:solidFill>
              </a:rPr>
              <a:t>Fake vs. real par apprentissage automatique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234440"/>
            <a:ext cx="3657600" cy="2286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234440"/>
            <a:ext cx="3657600" cy="59436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3258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💬  Analyser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01168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4F8"/>
                </a:solidFill>
              </a:rPr>
              <a:t>Impact émotionnel (colère, peur, joie...)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703320"/>
            <a:ext cx="3657600" cy="2286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703320"/>
            <a:ext cx="3657600" cy="59436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7947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📊  Scorer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48056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4F8"/>
                </a:solidFill>
              </a:rPr>
              <a:t>Score de crédibilité explicable 0→1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3703320"/>
            <a:ext cx="3657600" cy="2286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0" y="3703320"/>
            <a:ext cx="3657600" cy="59436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37947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🖥️  Visualiser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48056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4F8"/>
                </a:solidFill>
              </a:rPr>
              <a:t>Dashboard interactif + agent IA conversationnel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3703320"/>
            <a:ext cx="3657600" cy="2286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703320"/>
            <a:ext cx="3657600" cy="59436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37947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🌱  Mesurer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448056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4F8"/>
                </a:solidFill>
              </a:rPr>
              <a:t>Empreinte carbone du pipeline (Green IT)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Architecture — Pipeline en 5 étapes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017520"/>
            <a:ext cx="1828800" cy="1371600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Bluesky
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342900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3017520"/>
            <a:ext cx="1828800" cy="13716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80" y="32461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NLP
Cleaning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42900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0" y="3017520"/>
            <a:ext cx="1828800" cy="1371600"/>
          </a:xfrm>
          <a:prstGeom prst="rect">
            <a:avLst/>
          </a:prstGeom>
          <a:solidFill>
            <a:srgbClr val="6C3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32461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ML
Scoring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342900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78040" y="3017520"/>
            <a:ext cx="1828800" cy="13716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32461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Emotion
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42900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18320" y="3017520"/>
            <a:ext cx="1828800" cy="1371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32461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Final
Score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4526280"/>
            <a:ext cx="1097280" cy="8229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57200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B2A"/>
                </a:solidFill>
              </a:rPr>
              <a:t>MongoDB
raw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63240" y="4526280"/>
            <a:ext cx="1097280" cy="8229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63240" y="457200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B2A"/>
                </a:solidFill>
              </a:rPr>
              <a:t>MongoDB
clean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03520" y="4526280"/>
            <a:ext cx="1097280" cy="8229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0" y="457200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B2A"/>
                </a:solidFill>
              </a:rPr>
              <a:t>models/
.joblib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43800" y="4526280"/>
            <a:ext cx="1097280" cy="8229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43800" y="457200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B2A"/>
                </a:solidFill>
              </a:rPr>
              <a:t>posts_clean
(emotions)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84080" y="4526280"/>
            <a:ext cx="1097280" cy="8229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84080" y="457200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B2A"/>
                </a:solidFill>
              </a:rPr>
              <a:t>posts_clean
(final_score)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84080" y="1371600"/>
            <a:ext cx="2011680" cy="41148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5520" y="1554480"/>
            <a:ext cx="1828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🖥️
Dashboard
Streamlit
+
Agent IA
(Groq)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292608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1188720"/>
            <a:ext cx="2103120" cy="8229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13258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🗄️  MongoDB 7 (Docker)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657600"/>
            <a:ext cx="457200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Pipeline technique — 5 étapes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Étape 1 — Collecte Bluesky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5303520" cy="51206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4A5F"/>
                </a:solidFill>
              </a:rPr>
              <a:t>API Bluesky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>
                <a:solidFill>
                  <a:srgbClr val="F0F4F8"/>
                </a:solidFill>
              </a:rPr>
              <a:t>• API officielle app.bsky.feed.searchPosts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>
                <a:solidFill>
                  <a:srgbClr val="F0F4F8"/>
                </a:solidFill>
              </a:rPr>
              <a:t>• Authentification par App Password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>
                <a:solidFill>
                  <a:srgbClr val="F0F4F8"/>
                </a:solidFill>
              </a:rPr>
              <a:t>• Pagination automatique des résultats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>
                <a:solidFill>
                  <a:srgbClr val="F0F4F8"/>
                </a:solidFill>
              </a:rPr>
              <a:t>• Retry HTTP avec backoff exponentiel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>
                <a:solidFill>
                  <a:srgbClr val="F0F4F8"/>
                </a:solidFill>
              </a:rPr>
              <a:t>• Déduplication par URI unique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>
                <a:solidFill>
                  <a:srgbClr val="F0F4F8"/>
                </a:solidFill>
              </a:rPr>
              <a:t>• Mots-clés FR/EN 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>
                <a:solidFill>
                  <a:srgbClr val="F0F4F8"/>
                </a:solidFill>
              </a:rPr>
              <a:t>  fake news · désinformation · complot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>
                <a:solidFill>
                  <a:srgbClr val="F0F4F8"/>
                </a:solidFill>
              </a:rPr>
              <a:t>  hoax · manipulation · intox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188720"/>
            <a:ext cx="1737360" cy="1463040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28016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4 729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posts collectés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75319" y="1188720"/>
            <a:ext cx="1737360" cy="1463040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19" y="128016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4 667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19" y="20116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posts uniques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149838" y="1188720"/>
            <a:ext cx="1737360" cy="1463040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49838" y="128016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38" y="20116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langues (FR/EN)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834640"/>
            <a:ext cx="54864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29260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Structure MongoDB posts_raw 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429000"/>
            <a:ext cx="5303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73"/>
                </a:solidFill>
              </a:rPr>
              <a:t>{
  "uri": "at://did.../post/xyz",
  "text": "Contenu brut du post...",
  "author": "handle.bsky.social",
  "createdAt": "2025-12-01T...",
  "lang": ["fr"],
  "collected_at": "2025-12-01T..."
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Étape 2 — Prétraitement NLP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6858000" cy="1920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🔴 Avant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6583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0F4F8"/>
                </a:solidFill>
              </a:rPr>
              <a:t>"CHOC !! Les @journalistes mentent encore 😱
https://t.co/fake #DesinfoAlerte
C'est PROUVÉ par des EXPERTS 🤡"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337560"/>
            <a:ext cx="6858000" cy="19202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429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🟢 Après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40480"/>
            <a:ext cx="6583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4F8"/>
                </a:solidFill>
              </a:rPr>
              <a:t>"choc les journalistes mentent encore
c'est prouvé par des experts"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1234440"/>
            <a:ext cx="41148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137160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</a:rPr>
              <a:t>Étapes de nettoyage 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192024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>
                <a:solidFill>
                  <a:srgbClr val="556573"/>
                </a:solidFill>
              </a:rPr>
              <a:t>🔗 Suppression des URLs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>
                <a:solidFill>
                  <a:srgbClr val="556573"/>
                </a:solidFill>
              </a:rPr>
              <a:t>👤 Suppression des mentions @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>
                <a:solidFill>
                  <a:srgbClr val="556573"/>
                </a:solidFill>
              </a:rPr>
              <a:t># Suppression des hashtags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>
                <a:solidFill>
                  <a:srgbClr val="556573"/>
                </a:solidFill>
              </a:rPr>
              <a:t>🔡 Conversion minuscules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>
                <a:solidFill>
                  <a:srgbClr val="556573"/>
                </a:solidFill>
              </a:rPr>
              <a:t>😀 Retrait des emojis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>
                <a:solidFill>
                  <a:srgbClr val="556573"/>
                </a:solidFill>
              </a:rPr>
              <a:t>🌍 Détection de langue auto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>
                <a:solidFill>
                  <a:srgbClr val="556573"/>
                </a:solidFill>
              </a:rPr>
              <a:t>✅ Tokenisation et comptage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486400"/>
            <a:ext cx="6858000" cy="7772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577840"/>
            <a:ext cx="6583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✅  4 618 posts nettoyés → prêts pour l'analyse ML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Étape 3 — Classification Fake News (ML Baseline)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5303520" cy="5029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4A5F"/>
                </a:solidFill>
              </a:rPr>
              <a:t>Pipeline scikit-learn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920240"/>
            <a:ext cx="914400" cy="777240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574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993392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8"/>
                </a:solidFill>
              </a:rPr>
              <a:t>GonzaloA/fake_news (HuggingFace)
40 000 articles labellisés fake/real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926080"/>
            <a:ext cx="914400" cy="777240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0632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TF-IDF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999232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8"/>
                </a:solidFill>
              </a:rPr>
              <a:t>Unigrams + bigrams · 50 000 features
sublinear_tf=True · min_df=2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931920"/>
            <a:ext cx="914400" cy="777240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0690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LogReg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005072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8"/>
                </a:solidFill>
              </a:rPr>
              <a:t>Logistic Regression · C=1.0
class_weight='balanced' · max_iter=1000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937760"/>
            <a:ext cx="914400" cy="777240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0749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Split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5010912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8"/>
                </a:solidFill>
              </a:rPr>
              <a:t>80% entraînement / 20% test · stratifié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234440"/>
            <a:ext cx="1783080" cy="2103120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417320"/>
            <a:ext cx="1783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97.7%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423160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F1-score
(weighted)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1234440"/>
            <a:ext cx="1783080" cy="21031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1417320"/>
            <a:ext cx="1783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98.1%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2423160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Précision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00" y="1234440"/>
            <a:ext cx="1783080" cy="21031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0" y="1417320"/>
            <a:ext cx="1783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97.4%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2423160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Rappel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566160"/>
            <a:ext cx="1783080" cy="228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3566160"/>
            <a:ext cx="1783080" cy="411480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61188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Alertes HAUTES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4069080"/>
            <a:ext cx="1691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1B2A"/>
                </a:solidFill>
              </a:rPr>
              <a:t>1 109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489204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84A5F"/>
                </a:solidFill>
              </a:rPr>
              <a:t>24%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53949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573"/>
                </a:solidFill>
              </a:rPr>
              <a:t>des posts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8160" y="3566160"/>
            <a:ext cx="1783080" cy="228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38160" y="3566160"/>
            <a:ext cx="178308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83880" y="361188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Alertes MOYENNES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83880" y="4069080"/>
            <a:ext cx="1691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1B2A"/>
                </a:solidFill>
              </a:rPr>
              <a:t>3 194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83880" y="489204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67E22"/>
                </a:solidFill>
              </a:rPr>
              <a:t>69%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83880" y="53949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573"/>
                </a:solidFill>
              </a:rPr>
              <a:t>des posts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58400" y="3566160"/>
            <a:ext cx="1783080" cy="228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058400" y="3566160"/>
            <a:ext cx="178308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04120" y="361188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Alertes BASSES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04120" y="4069080"/>
            <a:ext cx="1691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1B2A"/>
                </a:solidFill>
              </a:rPr>
              <a:t>315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04120" y="489204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7AE60"/>
                </a:solidFill>
              </a:rPr>
              <a:t>7%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04120" y="53949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573"/>
                </a:solidFill>
              </a:rPr>
              <a:t>des posts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Étape 4 — Analyse Émotionnelle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5669280" cy="20116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4A5F"/>
                </a:solidFill>
              </a:rPr>
              <a:t>Méthode hybride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5394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F0F4F8"/>
                </a:solidFill>
              </a:rPr>
              <a:t>🔢  VADER Sentiment Analysis → score compound (-1 à +1)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F0F4F8"/>
                </a:solidFill>
              </a:rPr>
              <a:t>📖  Lexiques bilingues custom FR/EN → 6 émotions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F0F4F8"/>
                </a:solidFill>
              </a:rPr>
              <a:t>🌍  Bilingue : gestion des posts en français ET anglais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383280"/>
            <a:ext cx="1737360" cy="685800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352044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😡 Colère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59" y="3383280"/>
            <a:ext cx="1737360" cy="6858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96311" y="352044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😨 Peur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78" y="3383280"/>
            <a:ext cx="1737360" cy="6858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70830" y="352044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😢 Tristesse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206240"/>
            <a:ext cx="1737360" cy="685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434340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😊 Joie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23159" y="4206240"/>
            <a:ext cx="1737360" cy="685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96311" y="434340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😲 Surprise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78" y="4206240"/>
            <a:ext cx="1737360" cy="685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70830" y="434340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😄 Humour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234440"/>
            <a:ext cx="557784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</a:rPr>
              <a:t>Résultats sur 4 618 posts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0116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Négatif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46520" y="2423160"/>
            <a:ext cx="4114800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46520" y="2423160"/>
            <a:ext cx="1733954" cy="411480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52760" y="242316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4A5F"/>
                </a:solidFill>
              </a:rPr>
              <a:t>1946 (42%)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2004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Positif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46520" y="3611880"/>
            <a:ext cx="4114800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46520" y="3611880"/>
            <a:ext cx="1282199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52760" y="361188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1439 (31%)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3891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Neutre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46520" y="4800600"/>
            <a:ext cx="4114800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46520" y="4800600"/>
            <a:ext cx="1098646" cy="41148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652760" y="480060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F72"/>
                </a:solidFill>
              </a:rPr>
              <a:t>1233 (27%)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55778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84A5F"/>
                </a:solidFill>
              </a:rPr>
              <a:t>Émotion dominante la plus fréquente : 😡 Colère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Étape 5 — Score de Crédibilité Final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1430000" cy="13716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Score Final  =  70% × Risque Fake  +  20% × Risque Sentiment  +  10% × Risque Émotionnel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743200"/>
            <a:ext cx="3657600" cy="2743200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70%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Risque Fake News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5196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F4F8"/>
                </a:solidFill>
              </a:rPr>
              <a:t>1 - credibility_score
Issu du modèle TF-IDF + LogReg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2743200"/>
            <a:ext cx="3657600" cy="2743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278892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74903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Risque Sentiment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425196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F4F8"/>
                </a:solidFill>
              </a:rPr>
              <a:t>Sentiment VADER négatif
→ amplifie le risque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743200"/>
            <a:ext cx="3657600" cy="27432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78892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10%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74903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Risque Émotionnel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425196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F4F8"/>
                </a:solidFill>
              </a:rPr>
              <a:t>Colère/Peur → +risque
Joie → -risque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623560"/>
            <a:ext cx="11430000" cy="1005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8064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4A5F"/>
                </a:solidFill>
              </a:rPr>
              <a:t>&lt; 0.35 → 🔴 ALERTE HAUTE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58064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67E22"/>
                </a:solidFill>
              </a:rPr>
              <a:t>0.35–0.60 → 🟠 ALERTE MOYENNE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58064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7AE60"/>
                </a:solidFill>
              </a:rPr>
              <a:t>&gt; 0.60 → 🟢 ALERTE BASSE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657600"/>
            <a:ext cx="457200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Résultats obtenus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Résultats globaux du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3657600" cy="2286000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4 618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0F4F8"/>
                </a:solidFill>
              </a:rPr>
              <a:t>posts
analysés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234440"/>
            <a:ext cx="3657600" cy="2286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4173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97.7%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56032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0F4F8"/>
                </a:solidFill>
              </a:rPr>
              <a:t>F1-score
baseline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234440"/>
            <a:ext cx="3657600" cy="2286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4173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0.44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56032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0F4F8"/>
                </a:solidFill>
              </a:rPr>
              <a:t>score moyen
de crédibilité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703320"/>
            <a:ext cx="3657600" cy="22860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8862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24%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02920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0F4F8"/>
                </a:solidFill>
              </a:rPr>
              <a:t>posts en
alerte haute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3703320"/>
            <a:ext cx="3657600" cy="2286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38862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&lt; 5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502920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0F4F8"/>
                </a:solidFill>
              </a:rPr>
              <a:t>pipeline
complete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3703320"/>
            <a:ext cx="3657600" cy="2286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38862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502920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0F4F8"/>
                </a:solidFill>
              </a:rPr>
              <a:t>langues
(FR/EN/mixte)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657600"/>
            <a:ext cx="457200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Dashboard et démonstration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Dashboard Streamlit — Vue d'ensemble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557784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5577840" cy="5486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📊 Vue Synthèse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7452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556573"/>
                </a:solidFill>
              </a:rPr>
              <a:t>• KPIs : total posts, alertes H/M/B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556573"/>
                </a:solidFill>
              </a:rPr>
              <a:t>• Graphique distribution des alertes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556573"/>
                </a:solidFill>
              </a:rPr>
              <a:t>• Répartition des émotions (pie chart)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556573"/>
                </a:solidFill>
              </a:rPr>
              <a:t>• Timeline des publications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234440"/>
            <a:ext cx="557784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234440"/>
            <a:ext cx="5577840" cy="5486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3258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🔍 Filtres avancés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87452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556573"/>
                </a:solidFill>
              </a:rPr>
              <a:t>• Langue (FR / EN)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556573"/>
                </a:solidFill>
              </a:rPr>
              <a:t>• Niveau d'alerte (high / medium / low)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556573"/>
                </a:solidFill>
              </a:rPr>
              <a:t>• Émotion dominante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556573"/>
                </a:solidFill>
              </a:rPr>
              <a:t>• Plage de dates + recherche texte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794760"/>
            <a:ext cx="557784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794760"/>
            <a:ext cx="5577840" cy="5486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8862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📄 Détail par post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43484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556573"/>
                </a:solidFill>
              </a:rPr>
              <a:t>• Texte brut et texte nettoyé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556573"/>
                </a:solidFill>
              </a:rPr>
              <a:t>• Breakdown 70/20/10 du score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556573"/>
                </a:solidFill>
              </a:rPr>
              <a:t>• Justification textuelle lisible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556573"/>
                </a:solidFill>
              </a:rPr>
              <a:t>• Niveau d'alerte coloré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3794760"/>
            <a:ext cx="557784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3794760"/>
            <a:ext cx="5577840" cy="5486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8862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🤖 Agent IA (Groq)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43484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556573"/>
                </a:solidFill>
              </a:rPr>
              <a:t>• Chat en français sur les données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556573"/>
                </a:solidFill>
              </a:rPr>
              <a:t>• Llama 3.1 8B Instant (gratuit)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556573"/>
                </a:solidFill>
              </a:rPr>
              <a:t>• Contexte : résumé MongoDB live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556573"/>
                </a:solidFill>
              </a:rPr>
              <a:t>• Ex: "Quelle émotion domine ?"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Monitoring énergétique — Green IT (CodeCarbon)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5303520" cy="5029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7AE60"/>
                </a:solidFill>
              </a:rPr>
              <a:t>🌱  Objectif Green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F0F4F8"/>
                </a:solidFill>
              </a:rPr>
              <a:t>• Mesure de l'empreinte carbone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F0F4F8"/>
                </a:solidFill>
              </a:rPr>
              <a:t>  du pipeline ML de bout en bout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F0F4F8"/>
                </a:solidFill>
              </a:rPr>
              <a:t/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F0F4F8"/>
                </a:solidFill>
              </a:rPr>
              <a:t>• CodeCarbon intégré sur 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F0F4F8"/>
                </a:solidFill>
              </a:rPr>
              <a:t>  → Entraînement TF-IDF + LogReg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F0F4F8"/>
                </a:solidFill>
              </a:rPr>
              <a:t>  → Analyse émotionnelle (batch)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F0F4F8"/>
                </a:solidFill>
              </a:rPr>
              <a:t/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F0F4F8"/>
                </a:solidFill>
              </a:rPr>
              <a:t>• Sortie : models/emissions.csv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F0F4F8"/>
                </a:solidFill>
              </a:rPr>
              <a:t>  (kgCO2eq par run)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F0F4F8"/>
                </a:solidFill>
              </a:rPr>
              <a:t/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F0F4F8"/>
                </a:solidFill>
              </a:rPr>
              <a:t>• Permet de comparer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F0F4F8"/>
                </a:solidFill>
              </a:rPr>
              <a:t>  différentes configurations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234440"/>
            <a:ext cx="54864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716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</a:rPr>
              <a:t>Données mesurées par run 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1965960"/>
            <a:ext cx="594360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05740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1031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D1B2A"/>
                </a:solidFill>
              </a:rPr>
              <a:t>Énergie consommée (kWh)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2788920"/>
            <a:ext cx="594360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88036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🌡️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9260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D1B2A"/>
                </a:solidFill>
              </a:rPr>
              <a:t>CO2 équivalent (kgCO2eq)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6520" y="3611880"/>
            <a:ext cx="594360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70332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🖥️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7490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D1B2A"/>
                </a:solidFill>
              </a:rPr>
              <a:t>CPU/GPU utilisés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6520" y="4434840"/>
            <a:ext cx="594360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52628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⏱️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45720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D1B2A"/>
                </a:solidFill>
              </a:rPr>
              <a:t>Durée d'exécution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5257800"/>
            <a:ext cx="594360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34924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539496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D1B2A"/>
                </a:solidFill>
              </a:rPr>
              <a:t>Pays / mix énergétique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557784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7AE60"/>
                </a:solidFill>
              </a:rPr>
              <a:t>Recommandation : batch processing nocturne
→ réduction jusqu'à 40% CO2 (mix énergétique off-peak)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657600"/>
            <a:ext cx="457200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Perspectives d'amélioration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Perspectives d'amélioration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3657600" cy="5486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325880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🧠 Modèle avancé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74520"/>
            <a:ext cx="343814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73"/>
                </a:solidFill>
              </a:rPr>
              <a:t>Remplacer TF-IDF + LogReg par CamemBERT
(BERT francophone) pour améliorer la précision
sur les posts en français.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23444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234440"/>
            <a:ext cx="3657600" cy="5486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1325880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🌐 Multi-sources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1874520"/>
            <a:ext cx="343814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73"/>
                </a:solidFill>
              </a:rPr>
              <a:t>Étendre la collecte à d'autres plateformes
(Reddit, Mastodon) pour élargir
la couverture.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23444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234440"/>
            <a:ext cx="3657600" cy="5486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1325880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🔍 Explicabilité avancée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1874520"/>
            <a:ext cx="343814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73"/>
                </a:solidFill>
              </a:rPr>
              <a:t>Intégrer SHAP pour identifier les mots
qui influencent la prédiction fake news
(features TF-IDF dominantes).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70332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703320"/>
            <a:ext cx="3657600" cy="5486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794760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⚡ Temps réel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343400"/>
            <a:ext cx="343814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73"/>
                </a:solidFill>
              </a:rPr>
              <a:t>Pipeline en streaming avec Kafka
pour analyser les posts au fil
de leur publication.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370332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0" y="3703320"/>
            <a:ext cx="3657600" cy="5486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98848" y="3794760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☁️ Déploiement cloud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98848" y="4343400"/>
            <a:ext cx="343814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73"/>
                </a:solidFill>
              </a:rPr>
              <a:t>Docker Compose complet + Streamlit Cloud
pour un accès partagé sans installation
locale.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370332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703320"/>
            <a:ext cx="3657600" cy="5486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9328" y="3794760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✅ Tests automatisés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8" y="4343400"/>
            <a:ext cx="343814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73"/>
                </a:solidFill>
              </a:rPr>
              <a:t>Tests unitaires sur chaque module
+ CI/CD GitHub Actions pour garantir
la non-régression.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365760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>
                <a:solidFill>
                  <a:srgbClr val="FFFFFF"/>
                </a:solidFill>
              </a:rPr>
              <a:t>✅  Pipeline NLP complet de bout en bout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>
                <a:solidFill>
                  <a:srgbClr val="FFFFFF"/>
                </a:solidFill>
              </a:rPr>
              <a:t>✅  4 618 posts analysés — F1-score 97.7%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>
                <a:solidFill>
                  <a:srgbClr val="FFFFFF"/>
                </a:solidFill>
              </a:rPr>
              <a:t>✅  Score explicable (70/20/10) + texte justificatif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>
                <a:solidFill>
                  <a:srgbClr val="FFFFFF"/>
                </a:solidFill>
              </a:rPr>
              <a:t>✅  Dashboard Streamlit + Agent IA conversationnel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>
                <a:solidFill>
                  <a:srgbClr val="FFFFFF"/>
                </a:solidFill>
              </a:rPr>
              <a:t>✅  Monitoring Green IT (CodeCarbon)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>
                <a:solidFill>
                  <a:srgbClr val="FFFFFF"/>
                </a:solidFill>
              </a:rPr>
              <a:t>✅  Bilingue FR/EN — open-source et reproductible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82880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Merci pour votre attention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79" y="2560320"/>
            <a:ext cx="3840480" cy="25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2743200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5A623"/>
                </a:solidFill>
              </a:rPr>
              <a:t>🙋 Questions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3840480"/>
            <a:ext cx="4023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0F4F8"/>
                </a:solidFill>
              </a:rPr>
              <a:t>Démonstration disponible
↓
python run_all.py --dashboard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12648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73"/>
                </a:solidFill>
              </a:rPr>
              <a:t>Master 1 Big Data &amp; IA  ·  SUP DE VINCI  ·  Juin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