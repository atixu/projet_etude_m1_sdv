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65" r:id="rId11"/>
    <p:sldId id="266" r:id="rId12"/>
    <p:sldId id="267" r:id="rId13"/>
    <p:sldId id="273" r:id="rId24"/>
    <p:sldId id="268" r:id="rId14"/>
    <p:sldId id="271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154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0.xml"/><Relationship Id="rId24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15D4C"/>
              </a:solidFill>
              <a:ln w="25400" cap="flat">
                <a:solidFill>
                  <a:srgbClr val="F3F7F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3CB8-42C1-B6CB-1E755D849AB7}"/>
              </c:ext>
            </c:extLst>
          </c:dPt>
          <c:dPt>
            <c:idx val="1"/>
            <c:bubble3D val="0"/>
            <c:spPr>
              <a:solidFill>
                <a:srgbClr val="5FAE8C"/>
              </a:solidFill>
              <a:ln w="25400" cap="flat">
                <a:solidFill>
                  <a:srgbClr val="F3F7F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3CB8-42C1-B6CB-1E755D849AB7}"/>
              </c:ext>
            </c:extLst>
          </c:dPt>
          <c:cat>
            <c:strRef>
              <c:f>Sheet1!$A$2:$A$3</c:f>
              <c:strCache>
                <c:ptCount val="2"/>
                <c:pt idx="0">
                  <c:v>Suspects (fake)</c:v>
                </c:pt>
                <c:pt idx="1">
                  <c:v>Fiables (real)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4476</c:v>
                </c:pt>
                <c:pt idx="1">
                  <c:v>142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CB8-42C1-B6CB-1E755D849A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7B82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Posts</c:v>
                </c:pt>
              </c:strCache>
            </c:strRef>
          </c:tx>
          <c:spPr>
            <a:solidFill>
              <a:srgbClr val="5FAE8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E86-45A5-96CF-C6F32EAB8359}"/>
              </c:ext>
            </c:extLst>
          </c:dPt>
          <c:dPt>
            <c:idx val="1"/>
            <c:invertIfNegative val="0"/>
            <c:bubble3D val="0"/>
            <c:spPr>
              <a:solidFill>
                <a:srgbClr val="76A5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E86-45A5-96CF-C6F32EAB8359}"/>
              </c:ext>
            </c:extLst>
          </c:dPt>
          <c:dPt>
            <c:idx val="2"/>
            <c:invertIfNegative val="0"/>
            <c:bubble3D val="0"/>
            <c:spPr>
              <a:solidFill>
                <a:srgbClr val="E15D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E86-45A5-96CF-C6F32EAB835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C343D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Positif</c:v>
                </c:pt>
                <c:pt idx="1">
                  <c:v>Neutre</c:v>
                </c:pt>
                <c:pt idx="2">
                  <c:v>Négatif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1439</c:v>
                </c:pt>
                <c:pt idx="1">
                  <c:v>1233</c:v>
                </c:pt>
                <c:pt idx="2">
                  <c:v>1946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E86-45A5-96CF-C6F32EAB835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B8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501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nous sommes Guillaume Reault et William Bellon. Nous présentons Thumalien, notre projet de détection de fake news sur le réseau social Bluesky, combinant NLP, analyse émotionnelle et un dashboard interactif.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8138160" y="2377440"/>
            <a:ext cx="2560320" cy="2560320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-822960" y="3383280"/>
            <a:ext cx="2377440" cy="237744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502920"/>
            <a:ext cx="841248" cy="841248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94944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7132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D'ÉTUDES · M1 BIG DATA &amp; IA · SDV 2025-2026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737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566928" y="2606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fake news sur Bluesky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NLP · score de crédibilité · analyse émotionnelle · dashboard interactif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886200"/>
            <a:ext cx="164592" cy="164592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877824" y="3886200"/>
            <a:ext cx="164592" cy="16459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1188720" y="3886200"/>
            <a:ext cx="164592" cy="16459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66928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Guillaume REAULT</a:t>
            </a:r>
            <a:r>
              <a:rPr lang="en-US" sz="15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&amp; 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BELLON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98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du 26 juin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58368" y="152704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463040" y="15636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463040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des fake news et buts du projet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818888" y="152704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623560" y="15636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méthodologie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23560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technique et démarche Agile / Scrum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6888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58368" y="257860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463040" y="26151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6304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Gantt, Kanban et phases de développement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46888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18888" y="257860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623560" y="26151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6235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Collecte, NLP, classification, émotions, score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58368" y="363016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463040" y="36667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dashboard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46304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obtenus et démonstration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52044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818888" y="363016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5623560" y="36667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62356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et passage à l'échelle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détecter les fake news 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réseaux sociaux accélèrent la diffusion de l'information — mais aussi la propagation de la désinformation, plus rapide que les démentis.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49808" y="224028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7744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167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ingérable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508760" y="24780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de contenus pour une modération 100 % humaine.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96596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910328" y="224028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237744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2167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rapide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669280" y="24780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fausses informations circulent plus vite que les corrections.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29184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749808" y="356616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70332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4930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centrés EN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1508760" y="380390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solutions traitent correctement le français.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09160" y="329184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4910328" y="356616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70332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69280" y="34930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oubliés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5669280" y="380390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émotionnel et coût énergétique rarement mesurés.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vise Thumalien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15214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16736" y="199339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323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pipeline NLP qui classe les posts Bluesky en fake / real (FR &amp; EN).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8318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18668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351276" y="199339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7462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74777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clairs : score de crédibilité et tonalité émotionnelle.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522122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85816" y="1993392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0916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78231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transparence : justification lisible de chaque décision.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65226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725576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420356" y="199339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4370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81685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démarche Green IT : suivi de la consommation énergétique.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collecte au dashboard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" y="18745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0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Bluesky API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1487424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1658112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78152" y="18745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2392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612392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raw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2688336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2859024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79064" y="1874520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813304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2813304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Kedro NLP (7 nodes)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3889248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4059936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79976" y="1874520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014216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→ Classif.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4014216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LogReg</a:t>
            </a:r>
            <a:endParaRPr lang="en-US" sz="800" dirty="0"/>
          </a:p>
        </p:txBody>
      </p:sp>
      <p:sp>
        <p:nvSpPr>
          <p:cNvPr id="23" name="Shape 17"/>
          <p:cNvSpPr/>
          <p:nvPr/>
        </p:nvSpPr>
        <p:spPr>
          <a:xfrm>
            <a:off x="5090160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5260848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580888" y="1874520"/>
            <a:ext cx="384048" cy="38404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215128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Émotions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5215128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+ lexique</a:t>
            </a:r>
            <a:endParaRPr lang="en-US" sz="800" dirty="0"/>
          </a:p>
        </p:txBody>
      </p:sp>
      <p:sp>
        <p:nvSpPr>
          <p:cNvPr id="28" name="Shape 21"/>
          <p:cNvSpPr/>
          <p:nvPr/>
        </p:nvSpPr>
        <p:spPr>
          <a:xfrm>
            <a:off x="6291072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2"/>
          <p:cNvSpPr/>
          <p:nvPr/>
        </p:nvSpPr>
        <p:spPr>
          <a:xfrm>
            <a:off x="6461760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81800" y="1874520"/>
            <a:ext cx="384048" cy="38404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416040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final</a:t>
            </a:r>
            <a:endParaRPr lang="en-US" sz="1050" dirty="0"/>
          </a:p>
        </p:txBody>
      </p:sp>
      <p:sp>
        <p:nvSpPr>
          <p:cNvPr id="32" name="Text 24"/>
          <p:cNvSpPr/>
          <p:nvPr/>
        </p:nvSpPr>
        <p:spPr>
          <a:xfrm>
            <a:off x="6416040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explicabilité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7491984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26"/>
          <p:cNvSpPr/>
          <p:nvPr/>
        </p:nvSpPr>
        <p:spPr>
          <a:xfrm>
            <a:off x="7662672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982712" y="1874520"/>
            <a:ext cx="384048" cy="38404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7616952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7" name="Text 28"/>
          <p:cNvSpPr/>
          <p:nvPr/>
        </p:nvSpPr>
        <p:spPr>
          <a:xfrm>
            <a:off x="7616952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800" dirty="0"/>
          </a:p>
        </p:txBody>
      </p:sp>
      <p:sp>
        <p:nvSpPr>
          <p:cNvPr id="38" name="Text 29"/>
          <p:cNvSpPr/>
          <p:nvPr/>
        </p:nvSpPr>
        <p:spPr>
          <a:xfrm>
            <a:off x="54864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548640" y="3767328"/>
            <a:ext cx="1080821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1"/>
          <p:cNvSpPr/>
          <p:nvPr/>
        </p:nvSpPr>
        <p:spPr>
          <a:xfrm>
            <a:off x="548640" y="3767328"/>
            <a:ext cx="10808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1775765" y="3767328"/>
            <a:ext cx="1605686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33"/>
          <p:cNvSpPr/>
          <p:nvPr/>
        </p:nvSpPr>
        <p:spPr>
          <a:xfrm>
            <a:off x="1775765" y="3767328"/>
            <a:ext cx="16056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 / Docker</a:t>
            </a:r>
            <a:endParaRPr lang="en-US" sz="1050" dirty="0"/>
          </a:p>
        </p:txBody>
      </p:sp>
      <p:sp>
        <p:nvSpPr>
          <p:cNvPr id="43" name="Shape 34"/>
          <p:cNvSpPr/>
          <p:nvPr/>
        </p:nvSpPr>
        <p:spPr>
          <a:xfrm>
            <a:off x="3527755" y="3767328"/>
            <a:ext cx="1155802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35"/>
          <p:cNvSpPr/>
          <p:nvPr/>
        </p:nvSpPr>
        <p:spPr>
          <a:xfrm>
            <a:off x="3527755" y="3767328"/>
            <a:ext cx="11558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50" dirty="0"/>
          </a:p>
        </p:txBody>
      </p:sp>
      <p:sp>
        <p:nvSpPr>
          <p:cNvPr id="45" name="Shape 36"/>
          <p:cNvSpPr/>
          <p:nvPr/>
        </p:nvSpPr>
        <p:spPr>
          <a:xfrm>
            <a:off x="4829861" y="3767328"/>
            <a:ext cx="1305763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37"/>
          <p:cNvSpPr/>
          <p:nvPr/>
        </p:nvSpPr>
        <p:spPr>
          <a:xfrm>
            <a:off x="4829861" y="3767328"/>
            <a:ext cx="130576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vaderSentiment</a:t>
            </a:r>
            <a:endParaRPr lang="en-US" sz="1050" dirty="0"/>
          </a:p>
        </p:txBody>
      </p:sp>
      <p:sp>
        <p:nvSpPr>
          <p:cNvPr id="47" name="Shape 38"/>
          <p:cNvSpPr/>
          <p:nvPr/>
        </p:nvSpPr>
        <p:spPr>
          <a:xfrm>
            <a:off x="6281928" y="3767328"/>
            <a:ext cx="1605686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39"/>
          <p:cNvSpPr/>
          <p:nvPr/>
        </p:nvSpPr>
        <p:spPr>
          <a:xfrm>
            <a:off x="6281928" y="3767328"/>
            <a:ext cx="16056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548640" y="4224528"/>
            <a:ext cx="1755648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1"/>
          <p:cNvSpPr/>
          <p:nvPr/>
        </p:nvSpPr>
        <p:spPr>
          <a:xfrm>
            <a:off x="548640" y="4224528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datasets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2450592" y="4224528"/>
            <a:ext cx="1455725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Text 43"/>
          <p:cNvSpPr/>
          <p:nvPr/>
        </p:nvSpPr>
        <p:spPr>
          <a:xfrm>
            <a:off x="2450592" y="4224528"/>
            <a:ext cx="145572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</a:t>
            </a:r>
            <a:endParaRPr lang="en-US" sz="1050" dirty="0"/>
          </a:p>
        </p:txBody>
      </p:sp>
      <p:sp>
        <p:nvSpPr>
          <p:cNvPr id="53" name="Shape 44"/>
          <p:cNvSpPr/>
          <p:nvPr/>
        </p:nvSpPr>
        <p:spPr>
          <a:xfrm>
            <a:off x="4052621" y="4224528"/>
            <a:ext cx="780898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45"/>
          <p:cNvSpPr/>
          <p:nvPr/>
        </p:nvSpPr>
        <p:spPr>
          <a:xfrm>
            <a:off x="4052621" y="4224528"/>
            <a:ext cx="780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Kedro 1.2 + Airflow</a:t>
            </a:r>
            <a:endParaRPr lang="en-US" sz="1050" dirty="0"/>
          </a:p>
        </p:txBody>
      </p:sp>
      <p:sp>
        <p:nvSpPr>
          <p:cNvPr id="55" name="Text 4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démarche Agile / Scrum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13232" y="1682496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922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093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sprints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90195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découpé en 8 parties livrées sur 6 sprints itératifs.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496312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13232" y="2715768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2549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6426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partagés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371600" y="29352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 (collecte/ETL) &amp; Data Scientist (NLP/modèles).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529584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713232" y="3749040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587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par partie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371600" y="39684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lot : scope → implémentation → tests → compte-rendu.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40680" y="1463040"/>
            <a:ext cx="3154680" cy="3099816"/>
          </a:xfrm>
          <a:prstGeom prst="roundRect">
            <a:avLst>
              <a:gd name="adj" fmla="val 236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5"/>
          <p:cNvSpPr/>
          <p:nvPr/>
        </p:nvSpPr>
        <p:spPr>
          <a:xfrm>
            <a:off x="56692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sprint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669280" y="2167128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5669280" y="2167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035040" y="21122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 — cadrage du lot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5669280" y="2734056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/>
          <p:nvPr/>
        </p:nvSpPr>
        <p:spPr>
          <a:xfrm>
            <a:off x="566928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035040" y="26791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&amp; revue de code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5669280" y="3300984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3"/>
          <p:cNvSpPr/>
          <p:nvPr/>
        </p:nvSpPr>
        <p:spPr>
          <a:xfrm>
            <a:off x="5669280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03504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/ validation des livrables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669280" y="3867912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6"/>
          <p:cNvSpPr/>
          <p:nvPr/>
        </p:nvSpPr>
        <p:spPr>
          <a:xfrm>
            <a:off x="5669280" y="3867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6035040" y="3813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compte-rendu (fait · reste · risques)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Gantt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78892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8892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75666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75666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72440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440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69214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9214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65988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5988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762762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762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59536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548640" y="14173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66928" y="14173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Cadrage &amp; socle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34640" y="14721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66928" y="17602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Collecte Bluesky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834640" y="18150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48640" y="21031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66928" y="21031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Prétraitement NLP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802380" y="21579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66928" y="24460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Baseline fake news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70120" y="25008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548640" y="27889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66928" y="27889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Analyse émotions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737860" y="28437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66928" y="31318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· Score &amp; explicabilité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737860" y="31866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566928" y="34747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· Dashboard MVP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705600" y="35295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66928" y="38176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· Monitoring Green IT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673340" y="38724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548640" y="41605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566928" y="41605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P8 · Tests &amp; </a:t>
            </a:r>
            <a:r>
              <a:rPr lang="en-US" sz="950" dirty="0" err="1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673340" y="42153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2788920" y="4572000"/>
            <a:ext cx="201168" cy="146304"/>
          </a:xfrm>
          <a:prstGeom prst="rect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3035808" y="45171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Terminé (P0–P6)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92040" y="4572000"/>
            <a:ext cx="201168" cy="146304"/>
          </a:xfrm>
          <a:prstGeom prst="rect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5138928" y="4517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 / à venir (P7–P8)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Kanban &amp; phases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50592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786384" y="1979676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005840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Cadrage &amp; socle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67512" y="227228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786384" y="2377440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005840" y="227228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Collecte Bluesky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67512" y="2670048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786384" y="2775204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005840" y="2670048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Nettoyage NLP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7512" y="3067812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786384" y="3172968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1005840" y="3067812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Baseline fake news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7512" y="3465576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786384" y="3570732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005840" y="3465576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Analyse émotions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67512" y="386334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786384" y="3968496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1005840" y="386334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· Score + explicabilité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67512" y="426110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6384" y="4366260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1005840" y="426110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· Dashboard MVP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55264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3255264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392424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157216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374136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3493008" y="1979676"/>
            <a:ext cx="118872" cy="118872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3712464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· Monitoring énergétique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61888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5961888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099048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faire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863840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080760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6199632" y="1979676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6419088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guide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080760" y="227228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6199632" y="2377440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6419088" y="227228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demonstration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080760" y="2670048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6199632" y="2775204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6419088" y="2670048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final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3067812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6199632" y="3172968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6419088" y="3067812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&amp; prétraitement NLP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Bluesky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Bluesky Jetstream (WebSocket temps reel) : flux de TOUS les posts publics, sans filtre de mots-cles. ~45 posts/sec, 100 000 posts en ~40 min. Stockage brut dans MongoDB posts_raw (upsert sur URI unique).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NLP (Kedro 1.2)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Kedro 1.2 en 7 nodes : extract -&gt; clean (URLs/mentions/hashtags) -&gt; detect_lang (langdetect) -&gt; normalize -&gt; tokenize (NLTK) -&gt; lemmatize (WordNet) -&gt; load. Datasets intermediaires en Parquet. Sortie : MongoDB posts_clean_kedro.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VOLUMÉTRIE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collectes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Jetstream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~57 000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anglais (langdetect)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~43 000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(langue/vide)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1b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d'affirmations factuelles (Claim Detection)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identifié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baseline scorait 96,4 % des posts comme « fake », y compris des posts personnels (ex. « je suis fatigué »). Cause : entraîné sur des articles de presse, pas sur des posts sociaux.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Claim Detection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en amont : « ce post contient-il une affirmation factuelle vérifiable ? »  OUI → pipeline fake news  |  NON → post personnel ignoré.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/ EN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de scoring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88,5 %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affirmations factuelles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2 550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filtrés (11,5 %)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fake news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baseline : </a:t>
            </a:r>
            <a:r>
              <a:rPr lang="en-US" sz="14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Régression Logistique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Entraîné sur GonzaloA/fake_news (HuggingFace, ~40 000 articles labellisés)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train / validation / test ; métriques F1, précision, rappel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sauvegardé puis appliqué (scoring) sur les posts collectés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: credibility_score · predicted_label · alert_level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97,7 %</a:t>
            </a:r>
            <a:r>
              <a:rPr lang="en-US" sz="120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F1-score (weighted) sur le jeu de test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classés</a:t>
            </a:r>
            <a:endParaRPr lang="en-US" sz="12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806440" y="1554480"/>
          <a:ext cx="283464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Émotions &amp; score de crédibilité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7764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727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émotionnelle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(sentiment) + lexique custom : colère, peur, joie, tristesse, surprise, humour.</a:t>
            </a:r>
            <a:endParaRPr lang="en-US" sz="10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2377440"/>
          <a:ext cx="37947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709160" y="1417320"/>
            <a:ext cx="3886200" cy="3154680"/>
          </a:xfrm>
          <a:prstGeom prst="roundRect">
            <a:avLst>
              <a:gd name="adj" fmla="val 2319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937760" y="157276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final &amp; explicabilité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937760" y="19019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combiné, normalisé 0–100, avec une phrase explicative lisible par poste (fact-checking).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937760" y="254203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70 %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5852160" y="25420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fake news (modèle)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937760" y="304495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5852160" y="304495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sentiment négatif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37760" y="354787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C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5852160" y="35478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émotion (colère/peur)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937760" y="4114800"/>
            <a:ext cx="3474720" cy="347472"/>
          </a:xfrm>
          <a:prstGeom prst="roundRect">
            <a:avLst>
              <a:gd name="adj" fmla="val 50000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937760" y="41148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final_credibility_score · final_alert_level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MVP &amp; agent 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76656" y="159105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68249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536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&amp; visualisations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234440" y="181051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alertes hautes, score moyen, séries temporelles.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676656" y="236829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24597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dynamiques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234440" y="258775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Langue, niveau d'alerte, émotion, date, recherche libre.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676656" y="314553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23697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30906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détaillée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234440" y="336499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post avec son score et le détail (breakdown).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676656" y="392277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401421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34440" y="38679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(gratuit)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234440" y="414223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Groq · Llama 3.1 pour interroger les tendances.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5852160" y="1463040"/>
            <a:ext cx="2743200" cy="3099816"/>
          </a:xfrm>
          <a:prstGeom prst="roundRect">
            <a:avLst>
              <a:gd name="adj" fmla="val 2667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19"/>
          <p:cNvSpPr/>
          <p:nvPr/>
        </p:nvSpPr>
        <p:spPr>
          <a:xfrm>
            <a:off x="6903720" y="1828800"/>
            <a:ext cx="640080" cy="640080"/>
          </a:xfrm>
          <a:prstGeom prst="ellipse">
            <a:avLst/>
          </a:prstGeom>
          <a:solidFill>
            <a:srgbClr val="0C343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2592" y="1947672"/>
            <a:ext cx="402336" cy="40233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989320" y="2606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live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6035040" y="2944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en conditions réelles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72200" y="36118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3"/>
          <p:cNvSpPr/>
          <p:nvPr/>
        </p:nvSpPr>
        <p:spPr>
          <a:xfrm>
            <a:off x="617220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localhost:8501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REALISES - 5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Ingenierie &amp; automatisation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NLP structure (Kedro 1.2)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nodes chaines (fonctions pures testees) : extract -&gt; clean -&gt; detect_lang -&gt; normalize -&gt; tokenize -&gt; lemmatize -&gt; load. Datasets intermediaires en Parquet. Langue detectee sur le contenu reel via langdetect (pas le tag declare par l utilisateur). Visualisation : kedro viz run.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GitHub Actions CI/CD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bluesky_pipeline : collecte -&gt; pipeline Kedro NLP, declenchement quotidien a 00h00. CI/CD GitHub Actions sur push (main/dev) : 25 tests unitaires pytest (nodes 2-6) + lint ruff. Pipeline vert en continu.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METRIQUES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Kedro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verte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097280"/>
            <a:ext cx="3108960" cy="310896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obtenus sur données réelles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9436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22 408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collectés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318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62890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97,7 %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2890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du modèle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1772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66344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19 634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analysés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5226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69798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3B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4 912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69798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hautes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niveaux d'alerte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548878" cy="457200"/>
          </a:xfrm>
          <a:prstGeom prst="rect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48640" y="3310128"/>
            <a:ext cx="548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1 545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97518" y="3310128"/>
            <a:ext cx="5565445" cy="457200"/>
          </a:xfrm>
          <a:prstGeom prst="rect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1097518" y="3310128"/>
            <a:ext cx="55654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13 177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62962" y="3310128"/>
            <a:ext cx="1932398" cy="457200"/>
          </a:xfrm>
          <a:prstGeom prst="rect">
            <a:avLst/>
          </a:prstGeom>
          <a:solidFill>
            <a:srgbClr val="E15D4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662962" y="3310128"/>
            <a:ext cx="1932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4 912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164592" cy="16459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863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— 1 545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377440" y="3977640"/>
            <a:ext cx="164592" cy="164592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6151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— 13 177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06240" y="3977640"/>
            <a:ext cx="164592" cy="164592"/>
          </a:xfrm>
          <a:prstGeom prst="ellipse">
            <a:avLst/>
          </a:prstGeom>
          <a:solidFill>
            <a:srgbClr val="E15D4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4439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 — 4 912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crédibilité moyen : 0,44 / 1  ·  émotion dominante la plus fréquente : négatif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carbone du pipeline (CodeCarbon)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CodeCarbon intégré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CodeCarbon mesure l'empreinte du pipeline ML : entraînement TF-IDF + LogReg et analyse émotionnelle (batch). Sortie models/emissions.csv (kgCO₂eq + kWh par run).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&amp; comparaison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runs par étape, machine locale, mix électrique France (Île-de-France). Indicateurs : énergie (Wh), CO₂ (gCO₂eq), durée — base de comparaison entre configurations.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PAR RUN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gCO₂eq · pipeline complet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 consommés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d'exécution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en voiture (équiv.)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Pistes d'amélioration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49808" y="170078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837944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45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énergétique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508760" y="195681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désormais mesurée (CodeCarbon) : place à l'optimisation — comparer les configurations, traiter en heures creuses, alléger le modèle.</a:t>
            </a:r>
            <a:endParaRPr lang="en-US" sz="1020" dirty="0"/>
          </a:p>
        </p:txBody>
      </p:sp>
      <p:sp>
        <p:nvSpPr>
          <p:cNvPr id="9" name="Shape 6"/>
          <p:cNvSpPr/>
          <p:nvPr/>
        </p:nvSpPr>
        <p:spPr>
          <a:xfrm>
            <a:off x="4709160" y="14630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910328" y="170078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837944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0" y="1645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avancés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669280" y="195681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de la baseline à BERT / RoBERTa et un modèle d'émotions spécialisé pour gagner en finesse.</a:t>
            </a:r>
            <a:endParaRPr lang="en-US" sz="1020" dirty="0"/>
          </a:p>
        </p:txBody>
      </p:sp>
      <p:sp>
        <p:nvSpPr>
          <p:cNvPr id="14" name="Shape 10"/>
          <p:cNvSpPr/>
          <p:nvPr/>
        </p:nvSpPr>
        <p:spPr>
          <a:xfrm>
            <a:off x="54864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749808" y="320954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346704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154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508760" y="346557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operationnel : 25 tests pytest + lint ruff (GitHub Actions). Prochaines etapes : observabilite avancee, documentation et video de demonstration.</a:t>
            </a:r>
            <a:endParaRPr lang="en-US" sz="1020" dirty="0"/>
          </a:p>
        </p:txBody>
      </p:sp>
      <p:sp>
        <p:nvSpPr>
          <p:cNvPr id="19" name="Shape 14"/>
          <p:cNvSpPr/>
          <p:nvPr/>
        </p:nvSpPr>
        <p:spPr>
          <a:xfrm>
            <a:off x="470916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4910328" y="320954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346704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9280" y="3154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à l'échelle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5669280" y="346557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scalable avec Spark / Kafka pour le temps réel et de plus gros volumes.</a:t>
            </a:r>
            <a:endParaRPr lang="en-US" sz="1020" dirty="0"/>
          </a:p>
        </p:txBody>
      </p:sp>
      <p:sp>
        <p:nvSpPr>
          <p:cNvPr id="24" name="Text 1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468880"/>
            <a:ext cx="3840480" cy="38404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005840" y="-1188720"/>
            <a:ext cx="2926080" cy="29260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58368" y="3063240"/>
            <a:ext cx="164592" cy="164592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969264" y="3063240"/>
            <a:ext cx="164592" cy="16459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280160" y="3063240"/>
            <a:ext cx="164592" cy="16459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204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24128" y="350215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github.com/Atixu/Projet_Etude_M1_SDV</a:t>
            </a:r>
            <a:endParaRPr lang="en-US" sz="12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9776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24128" y="3959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Guillaume REAULT  &amp;  William BELLON  —  M1 Big Data &amp; IA · SDV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1205</Words>
  <Application>Microsoft Office PowerPoint</Application>
  <PresentationFormat>Affichage à l'écran (16:9)</PresentationFormat>
  <Paragraphs>273</Paragraphs>
  <Slides>16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Thumalien – Détection de fake news sur Bluesky</dc:title>
  <dc:subject>PptxGenJS Presentation</dc:subject>
  <dc:creator>Guillaume REAULT &amp; William BELLON</dc:creator>
  <cp:lastModifiedBy>William BELLON</cp:lastModifiedBy>
  <cp:revision>2</cp:revision>
  <dcterms:created xsi:type="dcterms:W3CDTF">2026-06-23T13:42:15Z</dcterms:created>
  <dcterms:modified xsi:type="dcterms:W3CDTF">2026-06-25T07:25:33Z</dcterms:modified>
</cp:coreProperties>
</file>