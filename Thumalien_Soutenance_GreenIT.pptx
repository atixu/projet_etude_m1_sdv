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72" r:id="rId23"/>
    <p:sldId id="265" r:id="rId11"/>
    <p:sldId id="266" r:id="rId12"/>
    <p:sldId id="267" r:id="rId13"/>
    <p:sldId id="268" r:id="rId14"/>
    <p:sldId id="271" r:id="rId15"/>
    <p:sldId id="269" r:id="rId16"/>
    <p:sldId id="270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8" d="100"/>
          <a:sy n="128" d="100"/>
        </p:scale>
        <p:origin x="154" y="9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c:style val="2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Classes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E15D4C"/>
              </a:solidFill>
              <a:ln w="25400" cap="flat">
                <a:solidFill>
                  <a:srgbClr val="F3F7F8"/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1-3CB8-42C1-B6CB-1E755D849AB7}"/>
              </c:ext>
            </c:extLst>
          </c:dPt>
          <c:dPt>
            <c:idx val="1"/>
            <c:bubble3D val="0"/>
            <c:spPr>
              <a:solidFill>
                <a:srgbClr val="5FAE8C"/>
              </a:solidFill>
              <a:ln w="25400" cap="flat">
                <a:solidFill>
                  <a:srgbClr val="F3F7F8"/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3-3CB8-42C1-B6CB-1E755D849AB7}"/>
              </c:ext>
            </c:extLst>
          </c:dPt>
          <c:cat>
            <c:strRef>
              <c:f>Sheet1!$A$2:$A$3</c:f>
              <c:strCache>
                <c:ptCount val="2"/>
                <c:pt idx="0">
                  <c:v>Suspects (fake)</c:v>
                </c:pt>
                <c:pt idx="1">
                  <c:v>Fiables (real)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4476</c:v>
                </c:pt>
                <c:pt idx="1">
                  <c:v>142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3CB8-42C1-B6CB-1E755D849AB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8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B7B82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Posts</c:v>
                </c:pt>
              </c:strCache>
            </c:strRef>
          </c:tx>
          <c:spPr>
            <a:solidFill>
              <a:srgbClr val="5FAE8C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3E86-45A5-96CF-C6F32EAB8359}"/>
              </c:ext>
            </c:extLst>
          </c:dPt>
          <c:dPt>
            <c:idx val="1"/>
            <c:invertIfNegative val="0"/>
            <c:bubble3D val="0"/>
            <c:spPr>
              <a:solidFill>
                <a:srgbClr val="76A5A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3E86-45A5-96CF-C6F32EAB8359}"/>
              </c:ext>
            </c:extLst>
          </c:dPt>
          <c:dPt>
            <c:idx val="2"/>
            <c:invertIfNegative val="0"/>
            <c:bubble3D val="0"/>
            <c:spPr>
              <a:solidFill>
                <a:srgbClr val="E15D4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3E86-45A5-96CF-C6F32EAB8359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0C343D"/>
                    </a:solidFill>
                    <a:latin typeface="Arial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Positif</c:v>
                </c:pt>
                <c:pt idx="1">
                  <c:v>Neutre</c:v>
                </c:pt>
                <c:pt idx="2">
                  <c:v>Négatif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1439</c:v>
                </c:pt>
                <c:pt idx="1">
                  <c:v>1233</c:v>
                </c:pt>
                <c:pt idx="2">
                  <c:v>1946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3E86-45A5-96CF-C6F32EAB8359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5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7B8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255010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Bonjour, nous sommes Guillaume Reault et William Bellon. Nous présentons Thumalien, notre projet de détection de fake news sur le réseau social Bluesky, combinant NLP, analyse émotionnelle et un dashboard interactif.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Relationship Id="rId8" Type="http://schemas.openxmlformats.org/officeDocument/2006/relationships/image" Target="../media/image15.png"/><Relationship Id="rId9" Type="http://schemas.openxmlformats.org/officeDocument/2006/relationships/image" Target="../media/image1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chart" Target="../charts/char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chart" Target="../charts/char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image" Target="../media/image2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Relationship Id="rId6" Type="http://schemas.openxmlformats.org/officeDocument/2006/relationships/image" Target="../media/image2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8.png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34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49440" y="-1280160"/>
            <a:ext cx="3840480" cy="3840480"/>
          </a:xfrm>
          <a:prstGeom prst="ellipse">
            <a:avLst/>
          </a:prstGeom>
          <a:solidFill>
            <a:srgbClr val="134F5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8138160" y="2377440"/>
            <a:ext cx="2560320" cy="2560320"/>
          </a:xfrm>
          <a:prstGeom prst="ellipse">
            <a:avLst/>
          </a:prstGeom>
          <a:solidFill>
            <a:srgbClr val="45818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-822960" y="3383280"/>
            <a:ext cx="2377440" cy="2377440"/>
          </a:xfrm>
          <a:prstGeom prst="ellipse">
            <a:avLst/>
          </a:prstGeom>
          <a:solidFill>
            <a:srgbClr val="134F5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548640" y="502920"/>
            <a:ext cx="841248" cy="841248"/>
          </a:xfrm>
          <a:prstGeom prst="ellipse">
            <a:avLst/>
          </a:prstGeom>
          <a:solidFill>
            <a:srgbClr val="134F5C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" y="694944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54480" y="71323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D'ÉTUDES · M1 BIG DATA &amp; IA · SDV 2025-2026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48640" y="173736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Thumalien</a:t>
            </a:r>
            <a:endParaRPr lang="en-US" sz="5800" dirty="0"/>
          </a:p>
        </p:txBody>
      </p:sp>
      <p:sp>
        <p:nvSpPr>
          <p:cNvPr id="9" name="Text 6"/>
          <p:cNvSpPr/>
          <p:nvPr/>
        </p:nvSpPr>
        <p:spPr>
          <a:xfrm>
            <a:off x="566928" y="260604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dirty="0">
                <a:solidFill>
                  <a:srgbClr val="D9EA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Détection de fake news sur Bluesky</a:t>
            </a:r>
            <a:endParaRPr lang="en-US" sz="2300" dirty="0"/>
          </a:p>
        </p:txBody>
      </p:sp>
      <p:sp>
        <p:nvSpPr>
          <p:cNvPr id="10" name="Text 7"/>
          <p:cNvSpPr/>
          <p:nvPr/>
        </p:nvSpPr>
        <p:spPr>
          <a:xfrm>
            <a:off x="566928" y="315468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NLP · score de crédibilité · analyse émotionnelle · dashboard interactif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66928" y="3886200"/>
            <a:ext cx="164592" cy="164592"/>
          </a:xfrm>
          <a:prstGeom prst="ellipse">
            <a:avLst/>
          </a:prstGeom>
          <a:solidFill>
            <a:srgbClr val="D9EAD3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2" name="Shape 9"/>
          <p:cNvSpPr/>
          <p:nvPr/>
        </p:nvSpPr>
        <p:spPr>
          <a:xfrm>
            <a:off x="877824" y="3886200"/>
            <a:ext cx="164592" cy="164592"/>
          </a:xfrm>
          <a:prstGeom prst="ellipse">
            <a:avLst/>
          </a:prstGeom>
          <a:solidFill>
            <a:srgbClr val="76A5A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3" name="Shape 10"/>
          <p:cNvSpPr/>
          <p:nvPr/>
        </p:nvSpPr>
        <p:spPr>
          <a:xfrm>
            <a:off x="1188720" y="3886200"/>
            <a:ext cx="164592" cy="164592"/>
          </a:xfrm>
          <a:prstGeom prst="ellipse">
            <a:avLst/>
          </a:prstGeom>
          <a:solidFill>
            <a:srgbClr val="45818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4" name="Text 11"/>
          <p:cNvSpPr/>
          <p:nvPr/>
        </p:nvSpPr>
        <p:spPr>
          <a:xfrm>
            <a:off x="566928" y="4160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Guillaume REAULT</a:t>
            </a:r>
            <a:r>
              <a:rPr lang="en-US" sz="1500" dirty="0">
                <a:solidFill>
                  <a:srgbClr val="4581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&amp;   </a:t>
            </a: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William BELLON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566928" y="44988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Soutenance du 26 juin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4581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LA PRÉSENTATION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Sommaire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931920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658368" y="1527048"/>
            <a:ext cx="7772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463040" y="1563624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&amp; objectifs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1463040" y="18745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7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Problématique des fake news et buts du projet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709160" y="1417320"/>
            <a:ext cx="3931920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4818888" y="1527048"/>
            <a:ext cx="7772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5623560" y="1563624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&amp; méthodologie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5623560" y="18745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7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technique et démarche Agile / Scrum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2468880"/>
            <a:ext cx="3931920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658368" y="2578608"/>
            <a:ext cx="7772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1463040" y="2615184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Suivi de projet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1463040" y="2926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7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Gantt, Kanban et phases de développement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709160" y="2468880"/>
            <a:ext cx="3931920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4818888" y="2578608"/>
            <a:ext cx="7772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5623560" y="2615184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Travaux réalisés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5623560" y="2926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7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Collecte, NLP, classification, émotions, score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3520440"/>
            <a:ext cx="3931920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1" name="Text 19"/>
          <p:cNvSpPr/>
          <p:nvPr/>
        </p:nvSpPr>
        <p:spPr>
          <a:xfrm>
            <a:off x="658368" y="3630168"/>
            <a:ext cx="7772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1463040" y="3666744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Résultats &amp; dashboard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1463040" y="39776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7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Indicateurs obtenus et démonstration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709160" y="3520440"/>
            <a:ext cx="3931920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5" name="Text 23"/>
          <p:cNvSpPr/>
          <p:nvPr/>
        </p:nvSpPr>
        <p:spPr>
          <a:xfrm>
            <a:off x="4818888" y="3630168"/>
            <a:ext cx="7772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5623560" y="3666744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Perspectives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5623560" y="39776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7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 et passage à l'échelle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321040" y="47365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48640" y="47365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Thumalien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4581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détecter les fake news ?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134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réseaux sociaux accélèrent la diffusion de l'information — mais aussi la propagation de la désinformation, plus rapide que les démentis.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3931920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749808" y="2240280"/>
            <a:ext cx="603504" cy="603504"/>
          </a:xfrm>
          <a:prstGeom prst="ellipse">
            <a:avLst/>
          </a:prstGeom>
          <a:solidFill>
            <a:srgbClr val="D9EAD3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2377440"/>
            <a:ext cx="329184" cy="32918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08760" y="2167128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ingérable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1508760" y="2478024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7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Trop de contenus pour une modération 100 % humaine.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709160" y="1965960"/>
            <a:ext cx="3931920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1" name="Shape 8"/>
          <p:cNvSpPr/>
          <p:nvPr/>
        </p:nvSpPr>
        <p:spPr>
          <a:xfrm>
            <a:off x="4910328" y="2240280"/>
            <a:ext cx="603504" cy="603504"/>
          </a:xfrm>
          <a:prstGeom prst="ellipse">
            <a:avLst/>
          </a:prstGeom>
          <a:solidFill>
            <a:srgbClr val="D9EAD3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7488" y="2377440"/>
            <a:ext cx="329184" cy="32918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669280" y="2167128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Propagation rapide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5669280" y="2478024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7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fausses informations circulent plus vite que les corrections.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548640" y="3291840"/>
            <a:ext cx="3931920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6" name="Shape 12"/>
          <p:cNvSpPr/>
          <p:nvPr/>
        </p:nvSpPr>
        <p:spPr>
          <a:xfrm>
            <a:off x="749808" y="3566160"/>
            <a:ext cx="603504" cy="603504"/>
          </a:xfrm>
          <a:prstGeom prst="ellipse">
            <a:avLst/>
          </a:prstGeom>
          <a:solidFill>
            <a:srgbClr val="D9EAD3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6968" y="3703320"/>
            <a:ext cx="329184" cy="329184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508760" y="3493008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Outils centrés EN</a:t>
            </a:r>
            <a:endParaRPr lang="en-US" sz="1450" dirty="0"/>
          </a:p>
        </p:txBody>
      </p:sp>
      <p:sp>
        <p:nvSpPr>
          <p:cNvPr id="19" name="Text 14"/>
          <p:cNvSpPr/>
          <p:nvPr/>
        </p:nvSpPr>
        <p:spPr>
          <a:xfrm>
            <a:off x="1508760" y="3803904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7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Peu de solutions traitent correctement le français.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4709160" y="3291840"/>
            <a:ext cx="3931920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1" name="Shape 16"/>
          <p:cNvSpPr/>
          <p:nvPr/>
        </p:nvSpPr>
        <p:spPr>
          <a:xfrm>
            <a:off x="4910328" y="3566160"/>
            <a:ext cx="603504" cy="603504"/>
          </a:xfrm>
          <a:prstGeom prst="ellipse">
            <a:avLst/>
          </a:prstGeom>
          <a:solidFill>
            <a:srgbClr val="D9EAD3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47488" y="3703320"/>
            <a:ext cx="329184" cy="329184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5669280" y="3493008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Angles oubliés</a:t>
            </a:r>
            <a:endParaRPr lang="en-US" sz="1450" dirty="0"/>
          </a:p>
        </p:txBody>
      </p:sp>
      <p:sp>
        <p:nvSpPr>
          <p:cNvPr id="24" name="Text 18"/>
          <p:cNvSpPr/>
          <p:nvPr/>
        </p:nvSpPr>
        <p:spPr>
          <a:xfrm>
            <a:off x="5669280" y="3803904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7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émotionnel et coût énergétique rarement mesurés.</a:t>
            </a:r>
            <a:endParaRPr lang="en-US" sz="1100" dirty="0"/>
          </a:p>
        </p:txBody>
      </p:sp>
      <p:sp>
        <p:nvSpPr>
          <p:cNvPr id="25" name="Text 19"/>
          <p:cNvSpPr/>
          <p:nvPr/>
        </p:nvSpPr>
        <p:spPr>
          <a:xfrm>
            <a:off x="8321040" y="47365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26" name="Text 20"/>
          <p:cNvSpPr/>
          <p:nvPr/>
        </p:nvSpPr>
        <p:spPr>
          <a:xfrm>
            <a:off x="548640" y="47365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Thumalien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4581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vise Thumalien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874520" cy="269748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1152144" y="1828800"/>
            <a:ext cx="676656" cy="676656"/>
          </a:xfrm>
          <a:prstGeom prst="ellipse">
            <a:avLst/>
          </a:prstGeom>
          <a:solidFill>
            <a:srgbClr val="134F5C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316736" y="1993392"/>
            <a:ext cx="347472" cy="34747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2633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Détecter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713232" y="3035808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7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pipeline NLP qui classe les posts Bluesky en fake / real (FR &amp; EN).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583180" y="1554480"/>
            <a:ext cx="1874520" cy="269748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" name="Shape 7"/>
          <p:cNvSpPr/>
          <p:nvPr/>
        </p:nvSpPr>
        <p:spPr>
          <a:xfrm>
            <a:off x="3186684" y="1828800"/>
            <a:ext cx="676656" cy="676656"/>
          </a:xfrm>
          <a:prstGeom prst="ellipse">
            <a:avLst/>
          </a:prstGeom>
          <a:solidFill>
            <a:srgbClr val="134F5C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3351276" y="1993392"/>
            <a:ext cx="347472" cy="34747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674620" y="2633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Indiquer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2747772" y="3035808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7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indicateurs clairs : score de crédibilité et tonalité émotionnelle.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4617720" y="1554480"/>
            <a:ext cx="1874520" cy="269748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5" name="Shape 11"/>
          <p:cNvSpPr/>
          <p:nvPr/>
        </p:nvSpPr>
        <p:spPr>
          <a:xfrm>
            <a:off x="5221224" y="1828800"/>
            <a:ext cx="676656" cy="676656"/>
          </a:xfrm>
          <a:prstGeom prst="ellipse">
            <a:avLst/>
          </a:prstGeom>
          <a:solidFill>
            <a:srgbClr val="134F5C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385816" y="1993392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4709160" y="2633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Expliquer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4782312" y="3035808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7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transparence : justification lisible de chaque décision.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6652260" y="1554480"/>
            <a:ext cx="1874520" cy="269748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0" name="Shape 15"/>
          <p:cNvSpPr/>
          <p:nvPr/>
        </p:nvSpPr>
        <p:spPr>
          <a:xfrm>
            <a:off x="7255764" y="1828800"/>
            <a:ext cx="676656" cy="676656"/>
          </a:xfrm>
          <a:prstGeom prst="ellipse">
            <a:avLst/>
          </a:prstGeom>
          <a:solidFill>
            <a:srgbClr val="134F5C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7420356" y="1993392"/>
            <a:ext cx="347472" cy="34747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6743700" y="2633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Mesurer</a:t>
            </a:r>
            <a:endParaRPr lang="en-US" sz="1600" dirty="0"/>
          </a:p>
        </p:txBody>
      </p:sp>
      <p:sp>
        <p:nvSpPr>
          <p:cNvPr id="23" name="Text 17"/>
          <p:cNvSpPr/>
          <p:nvPr/>
        </p:nvSpPr>
        <p:spPr>
          <a:xfrm>
            <a:off x="6816852" y="3035808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7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démarche Green IT : suivi de la consommation énergétique.</a:t>
            </a:r>
            <a:endParaRPr lang="en-US" sz="1050" dirty="0"/>
          </a:p>
        </p:txBody>
      </p:sp>
      <p:sp>
        <p:nvSpPr>
          <p:cNvPr id="24" name="Text 18"/>
          <p:cNvSpPr/>
          <p:nvPr/>
        </p:nvSpPr>
        <p:spPr>
          <a:xfrm>
            <a:off x="8321040" y="47365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548640" y="47365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Thumalien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4581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collecte au dashboard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691640"/>
            <a:ext cx="1024128" cy="1371600"/>
          </a:xfrm>
          <a:prstGeom prst="roundRect">
            <a:avLst>
              <a:gd name="adj" fmla="val 7143"/>
            </a:avLst>
          </a:prstGeom>
          <a:solidFill>
            <a:srgbClr val="45818E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77240" y="1874520"/>
            <a:ext cx="384048" cy="38404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11480" y="2313432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Collecte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411480" y="2587752"/>
            <a:ext cx="1115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9EA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Bluesky API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1487424" y="2377440"/>
            <a:ext cx="164592" cy="0"/>
          </a:xfrm>
          <a:prstGeom prst="line">
            <a:avLst/>
          </a:prstGeom>
          <a:noFill/>
          <a:ln w="25400">
            <a:solidFill>
              <a:srgbClr val="76A5AF"/>
            </a:solidFill>
            <a:prstDash val="solid"/>
            <a:tailEnd type="triangle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6"/>
          <p:cNvSpPr/>
          <p:nvPr/>
        </p:nvSpPr>
        <p:spPr>
          <a:xfrm>
            <a:off x="1658112" y="1691640"/>
            <a:ext cx="1024128" cy="1371600"/>
          </a:xfrm>
          <a:prstGeom prst="roundRect">
            <a:avLst>
              <a:gd name="adj" fmla="val 7143"/>
            </a:avLst>
          </a:prstGeom>
          <a:solidFill>
            <a:srgbClr val="134F5C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978152" y="1874520"/>
            <a:ext cx="384048" cy="38404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12392" y="2313432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Stockage</a:t>
            </a:r>
            <a:endParaRPr lang="en-US" sz="1050" dirty="0"/>
          </a:p>
        </p:txBody>
      </p:sp>
      <p:sp>
        <p:nvSpPr>
          <p:cNvPr id="12" name="Text 8"/>
          <p:cNvSpPr/>
          <p:nvPr/>
        </p:nvSpPr>
        <p:spPr>
          <a:xfrm>
            <a:off x="1612392" y="2587752"/>
            <a:ext cx="1115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9EA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raw</a:t>
            </a:r>
            <a:endParaRPr lang="en-US" sz="800" dirty="0"/>
          </a:p>
        </p:txBody>
      </p:sp>
      <p:sp>
        <p:nvSpPr>
          <p:cNvPr id="13" name="Shape 9"/>
          <p:cNvSpPr/>
          <p:nvPr/>
        </p:nvSpPr>
        <p:spPr>
          <a:xfrm>
            <a:off x="2688336" y="2377440"/>
            <a:ext cx="164592" cy="0"/>
          </a:xfrm>
          <a:prstGeom prst="line">
            <a:avLst/>
          </a:prstGeom>
          <a:noFill/>
          <a:ln w="25400">
            <a:solidFill>
              <a:srgbClr val="76A5AF"/>
            </a:solidFill>
            <a:prstDash val="solid"/>
            <a:tailEnd type="triangle"/>
          </a:ln>
        </p:spPr>
        <p:txBody>
          <a:bodyPr/>
          <a:lstStyle/>
          <a:p>
            <a:endParaRPr lang="fr-FR"/>
          </a:p>
        </p:txBody>
      </p:sp>
      <p:sp>
        <p:nvSpPr>
          <p:cNvPr id="14" name="Shape 10"/>
          <p:cNvSpPr/>
          <p:nvPr/>
        </p:nvSpPr>
        <p:spPr>
          <a:xfrm>
            <a:off x="2859024" y="1691640"/>
            <a:ext cx="1024128" cy="1371600"/>
          </a:xfrm>
          <a:prstGeom prst="roundRect">
            <a:avLst>
              <a:gd name="adj" fmla="val 7143"/>
            </a:avLst>
          </a:prstGeom>
          <a:solidFill>
            <a:srgbClr val="45818E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3179064" y="1874520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2813304" y="2313432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Nettoyage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2813304" y="2587752"/>
            <a:ext cx="1115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9EA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NLP cleaning</a:t>
            </a:r>
            <a:endParaRPr lang="en-US" sz="800" dirty="0"/>
          </a:p>
        </p:txBody>
      </p:sp>
      <p:sp>
        <p:nvSpPr>
          <p:cNvPr id="18" name="Shape 13"/>
          <p:cNvSpPr/>
          <p:nvPr/>
        </p:nvSpPr>
        <p:spPr>
          <a:xfrm>
            <a:off x="3889248" y="2377440"/>
            <a:ext cx="164592" cy="0"/>
          </a:xfrm>
          <a:prstGeom prst="line">
            <a:avLst/>
          </a:prstGeom>
          <a:noFill/>
          <a:ln w="25400">
            <a:solidFill>
              <a:srgbClr val="76A5AF"/>
            </a:solidFill>
            <a:prstDash val="solid"/>
            <a:tailEnd type="triangle"/>
          </a:ln>
        </p:spPr>
        <p:txBody>
          <a:bodyPr/>
          <a:lstStyle/>
          <a:p>
            <a:endParaRPr lang="fr-FR"/>
          </a:p>
        </p:txBody>
      </p:sp>
      <p:sp>
        <p:nvSpPr>
          <p:cNvPr id="19" name="Shape 14"/>
          <p:cNvSpPr/>
          <p:nvPr/>
        </p:nvSpPr>
        <p:spPr>
          <a:xfrm>
            <a:off x="4059936" y="1691640"/>
            <a:ext cx="1024128" cy="1371600"/>
          </a:xfrm>
          <a:prstGeom prst="roundRect">
            <a:avLst>
              <a:gd name="adj" fmla="val 7143"/>
            </a:avLst>
          </a:prstGeom>
          <a:solidFill>
            <a:srgbClr val="134F5C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4379976" y="1874520"/>
            <a:ext cx="384048" cy="384048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4014216" y="2313432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 → Classif.</a:t>
            </a:r>
            <a:endParaRPr lang="en-US" sz="1050" dirty="0"/>
          </a:p>
        </p:txBody>
      </p:sp>
      <p:sp>
        <p:nvSpPr>
          <p:cNvPr id="22" name="Text 16"/>
          <p:cNvSpPr/>
          <p:nvPr/>
        </p:nvSpPr>
        <p:spPr>
          <a:xfrm>
            <a:off x="4014216" y="2587752"/>
            <a:ext cx="1115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9EA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+ LogReg</a:t>
            </a:r>
            <a:endParaRPr lang="en-US" sz="800" dirty="0"/>
          </a:p>
        </p:txBody>
      </p:sp>
      <p:sp>
        <p:nvSpPr>
          <p:cNvPr id="23" name="Shape 17"/>
          <p:cNvSpPr/>
          <p:nvPr/>
        </p:nvSpPr>
        <p:spPr>
          <a:xfrm>
            <a:off x="5090160" y="2377440"/>
            <a:ext cx="164592" cy="0"/>
          </a:xfrm>
          <a:prstGeom prst="line">
            <a:avLst/>
          </a:prstGeom>
          <a:noFill/>
          <a:ln w="25400">
            <a:solidFill>
              <a:srgbClr val="76A5AF"/>
            </a:solidFill>
            <a:prstDash val="solid"/>
            <a:tailEnd type="triangle"/>
          </a:ln>
        </p:spPr>
        <p:txBody>
          <a:bodyPr/>
          <a:lstStyle/>
          <a:p>
            <a:endParaRPr lang="fr-FR"/>
          </a:p>
        </p:txBody>
      </p:sp>
      <p:sp>
        <p:nvSpPr>
          <p:cNvPr id="24" name="Shape 18"/>
          <p:cNvSpPr/>
          <p:nvPr/>
        </p:nvSpPr>
        <p:spPr>
          <a:xfrm>
            <a:off x="5260848" y="1691640"/>
            <a:ext cx="1024128" cy="1371600"/>
          </a:xfrm>
          <a:prstGeom prst="roundRect">
            <a:avLst>
              <a:gd name="adj" fmla="val 7143"/>
            </a:avLst>
          </a:prstGeom>
          <a:solidFill>
            <a:srgbClr val="45818E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5580888" y="1874520"/>
            <a:ext cx="384048" cy="384048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5215128" y="2313432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Émotions</a:t>
            </a:r>
            <a:endParaRPr lang="en-US" sz="1050" dirty="0"/>
          </a:p>
        </p:txBody>
      </p:sp>
      <p:sp>
        <p:nvSpPr>
          <p:cNvPr id="27" name="Text 20"/>
          <p:cNvSpPr/>
          <p:nvPr/>
        </p:nvSpPr>
        <p:spPr>
          <a:xfrm>
            <a:off x="5215128" y="2587752"/>
            <a:ext cx="1115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9EA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VADER + lexique</a:t>
            </a:r>
            <a:endParaRPr lang="en-US" sz="800" dirty="0"/>
          </a:p>
        </p:txBody>
      </p:sp>
      <p:sp>
        <p:nvSpPr>
          <p:cNvPr id="28" name="Shape 21"/>
          <p:cNvSpPr/>
          <p:nvPr/>
        </p:nvSpPr>
        <p:spPr>
          <a:xfrm>
            <a:off x="6291072" y="2377440"/>
            <a:ext cx="164592" cy="0"/>
          </a:xfrm>
          <a:prstGeom prst="line">
            <a:avLst/>
          </a:prstGeom>
          <a:noFill/>
          <a:ln w="25400">
            <a:solidFill>
              <a:srgbClr val="76A5AF"/>
            </a:solidFill>
            <a:prstDash val="solid"/>
            <a:tailEnd type="triangle"/>
          </a:ln>
        </p:spPr>
        <p:txBody>
          <a:bodyPr/>
          <a:lstStyle/>
          <a:p>
            <a:endParaRPr lang="fr-FR"/>
          </a:p>
        </p:txBody>
      </p:sp>
      <p:sp>
        <p:nvSpPr>
          <p:cNvPr id="29" name="Shape 22"/>
          <p:cNvSpPr/>
          <p:nvPr/>
        </p:nvSpPr>
        <p:spPr>
          <a:xfrm>
            <a:off x="6461760" y="1691640"/>
            <a:ext cx="1024128" cy="1371600"/>
          </a:xfrm>
          <a:prstGeom prst="roundRect">
            <a:avLst>
              <a:gd name="adj" fmla="val 7143"/>
            </a:avLst>
          </a:prstGeom>
          <a:solidFill>
            <a:srgbClr val="134F5C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6781800" y="1874520"/>
            <a:ext cx="384048" cy="384048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6416040" y="2313432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final</a:t>
            </a:r>
            <a:endParaRPr lang="en-US" sz="1050" dirty="0"/>
          </a:p>
        </p:txBody>
      </p:sp>
      <p:sp>
        <p:nvSpPr>
          <p:cNvPr id="32" name="Text 24"/>
          <p:cNvSpPr/>
          <p:nvPr/>
        </p:nvSpPr>
        <p:spPr>
          <a:xfrm>
            <a:off x="6416040" y="2587752"/>
            <a:ext cx="1115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9EA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explicabilité</a:t>
            </a:r>
            <a:endParaRPr lang="en-US" sz="800" dirty="0"/>
          </a:p>
        </p:txBody>
      </p:sp>
      <p:sp>
        <p:nvSpPr>
          <p:cNvPr id="33" name="Shape 25"/>
          <p:cNvSpPr/>
          <p:nvPr/>
        </p:nvSpPr>
        <p:spPr>
          <a:xfrm>
            <a:off x="7491984" y="2377440"/>
            <a:ext cx="164592" cy="0"/>
          </a:xfrm>
          <a:prstGeom prst="line">
            <a:avLst/>
          </a:prstGeom>
          <a:noFill/>
          <a:ln w="25400">
            <a:solidFill>
              <a:srgbClr val="76A5AF"/>
            </a:solidFill>
            <a:prstDash val="solid"/>
            <a:tailEnd type="triangle"/>
          </a:ln>
        </p:spPr>
        <p:txBody>
          <a:bodyPr/>
          <a:lstStyle/>
          <a:p>
            <a:endParaRPr lang="fr-FR"/>
          </a:p>
        </p:txBody>
      </p:sp>
      <p:sp>
        <p:nvSpPr>
          <p:cNvPr id="34" name="Shape 26"/>
          <p:cNvSpPr/>
          <p:nvPr/>
        </p:nvSpPr>
        <p:spPr>
          <a:xfrm>
            <a:off x="7662672" y="1691640"/>
            <a:ext cx="1024128" cy="1371600"/>
          </a:xfrm>
          <a:prstGeom prst="roundRect">
            <a:avLst>
              <a:gd name="adj" fmla="val 7143"/>
            </a:avLst>
          </a:prstGeom>
          <a:solidFill>
            <a:srgbClr val="0C343D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35" name="Image 6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7982712" y="1874520"/>
            <a:ext cx="384048" cy="384048"/>
          </a:xfrm>
          <a:prstGeom prst="rect">
            <a:avLst/>
          </a:prstGeom>
        </p:spPr>
      </p:pic>
      <p:sp>
        <p:nvSpPr>
          <p:cNvPr id="36" name="Text 27"/>
          <p:cNvSpPr/>
          <p:nvPr/>
        </p:nvSpPr>
        <p:spPr>
          <a:xfrm>
            <a:off x="7616952" y="2313432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50" dirty="0"/>
          </a:p>
        </p:txBody>
      </p:sp>
      <p:sp>
        <p:nvSpPr>
          <p:cNvPr id="37" name="Text 28"/>
          <p:cNvSpPr/>
          <p:nvPr/>
        </p:nvSpPr>
        <p:spPr>
          <a:xfrm>
            <a:off x="7616952" y="2587752"/>
            <a:ext cx="1115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9EA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</a:t>
            </a:r>
            <a:endParaRPr lang="en-US" sz="800" dirty="0"/>
          </a:p>
        </p:txBody>
      </p:sp>
      <p:sp>
        <p:nvSpPr>
          <p:cNvPr id="38" name="Text 29"/>
          <p:cNvSpPr/>
          <p:nvPr/>
        </p:nvSpPr>
        <p:spPr>
          <a:xfrm>
            <a:off x="548640" y="3429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4581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TECHNIQUE</a:t>
            </a:r>
            <a:endParaRPr lang="en-US" sz="1100" dirty="0"/>
          </a:p>
        </p:txBody>
      </p:sp>
      <p:sp>
        <p:nvSpPr>
          <p:cNvPr id="39" name="Shape 30"/>
          <p:cNvSpPr/>
          <p:nvPr/>
        </p:nvSpPr>
        <p:spPr>
          <a:xfrm>
            <a:off x="548640" y="3767328"/>
            <a:ext cx="1080821" cy="347472"/>
          </a:xfrm>
          <a:prstGeom prst="roundRect">
            <a:avLst>
              <a:gd name="adj" fmla="val 50000"/>
            </a:avLst>
          </a:prstGeom>
          <a:solidFill>
            <a:srgbClr val="D9EAD3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0" name="Text 31"/>
          <p:cNvSpPr/>
          <p:nvPr/>
        </p:nvSpPr>
        <p:spPr>
          <a:xfrm>
            <a:off x="548640" y="3767328"/>
            <a:ext cx="108082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34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3.12</a:t>
            </a:r>
            <a:endParaRPr lang="en-US" sz="1050" dirty="0"/>
          </a:p>
        </p:txBody>
      </p:sp>
      <p:sp>
        <p:nvSpPr>
          <p:cNvPr id="41" name="Shape 32"/>
          <p:cNvSpPr/>
          <p:nvPr/>
        </p:nvSpPr>
        <p:spPr>
          <a:xfrm>
            <a:off x="1775765" y="3767328"/>
            <a:ext cx="1605686" cy="347472"/>
          </a:xfrm>
          <a:prstGeom prst="roundRect">
            <a:avLst>
              <a:gd name="adj" fmla="val 50000"/>
            </a:avLst>
          </a:prstGeom>
          <a:solidFill>
            <a:srgbClr val="D9EAD3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2" name="Text 33"/>
          <p:cNvSpPr/>
          <p:nvPr/>
        </p:nvSpPr>
        <p:spPr>
          <a:xfrm>
            <a:off x="1775765" y="3767328"/>
            <a:ext cx="160568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34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7 / Docker</a:t>
            </a:r>
            <a:endParaRPr lang="en-US" sz="1050" dirty="0"/>
          </a:p>
        </p:txBody>
      </p:sp>
      <p:sp>
        <p:nvSpPr>
          <p:cNvPr id="43" name="Shape 34"/>
          <p:cNvSpPr/>
          <p:nvPr/>
        </p:nvSpPr>
        <p:spPr>
          <a:xfrm>
            <a:off x="3527755" y="3767328"/>
            <a:ext cx="1155802" cy="347472"/>
          </a:xfrm>
          <a:prstGeom prst="roundRect">
            <a:avLst>
              <a:gd name="adj" fmla="val 50000"/>
            </a:avLst>
          </a:prstGeom>
          <a:solidFill>
            <a:srgbClr val="D9EAD3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4" name="Text 35"/>
          <p:cNvSpPr/>
          <p:nvPr/>
        </p:nvSpPr>
        <p:spPr>
          <a:xfrm>
            <a:off x="3527755" y="3767328"/>
            <a:ext cx="115580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34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</a:t>
            </a:r>
            <a:endParaRPr lang="en-US" sz="1050" dirty="0"/>
          </a:p>
        </p:txBody>
      </p:sp>
      <p:sp>
        <p:nvSpPr>
          <p:cNvPr id="45" name="Shape 36"/>
          <p:cNvSpPr/>
          <p:nvPr/>
        </p:nvSpPr>
        <p:spPr>
          <a:xfrm>
            <a:off x="4829861" y="3767328"/>
            <a:ext cx="1305763" cy="347472"/>
          </a:xfrm>
          <a:prstGeom prst="roundRect">
            <a:avLst>
              <a:gd name="adj" fmla="val 50000"/>
            </a:avLst>
          </a:prstGeom>
          <a:solidFill>
            <a:srgbClr val="D9EAD3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6" name="Text 37"/>
          <p:cNvSpPr/>
          <p:nvPr/>
        </p:nvSpPr>
        <p:spPr>
          <a:xfrm>
            <a:off x="4829861" y="3767328"/>
            <a:ext cx="130576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34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vaderSentiment</a:t>
            </a:r>
            <a:endParaRPr lang="en-US" sz="1050" dirty="0"/>
          </a:p>
        </p:txBody>
      </p:sp>
      <p:sp>
        <p:nvSpPr>
          <p:cNvPr id="47" name="Shape 38"/>
          <p:cNvSpPr/>
          <p:nvPr/>
        </p:nvSpPr>
        <p:spPr>
          <a:xfrm>
            <a:off x="6281928" y="3767328"/>
            <a:ext cx="1605686" cy="347472"/>
          </a:xfrm>
          <a:prstGeom prst="roundRect">
            <a:avLst>
              <a:gd name="adj" fmla="val 50000"/>
            </a:avLst>
          </a:prstGeom>
          <a:solidFill>
            <a:srgbClr val="D9EAD3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8" name="Text 39"/>
          <p:cNvSpPr/>
          <p:nvPr/>
        </p:nvSpPr>
        <p:spPr>
          <a:xfrm>
            <a:off x="6281928" y="3767328"/>
            <a:ext cx="160568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34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+ Plotly</a:t>
            </a:r>
            <a:endParaRPr lang="en-US" sz="1050" dirty="0"/>
          </a:p>
        </p:txBody>
      </p:sp>
      <p:sp>
        <p:nvSpPr>
          <p:cNvPr id="49" name="Shape 40"/>
          <p:cNvSpPr/>
          <p:nvPr/>
        </p:nvSpPr>
        <p:spPr>
          <a:xfrm>
            <a:off x="548640" y="4224528"/>
            <a:ext cx="1755648" cy="347472"/>
          </a:xfrm>
          <a:prstGeom prst="roundRect">
            <a:avLst>
              <a:gd name="adj" fmla="val 50000"/>
            </a:avLst>
          </a:prstGeom>
          <a:solidFill>
            <a:srgbClr val="D9EAD3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0" name="Text 41"/>
          <p:cNvSpPr/>
          <p:nvPr/>
        </p:nvSpPr>
        <p:spPr>
          <a:xfrm>
            <a:off x="548640" y="4224528"/>
            <a:ext cx="17556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34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HuggingFace datasets</a:t>
            </a:r>
            <a:endParaRPr lang="en-US" sz="1050" dirty="0"/>
          </a:p>
        </p:txBody>
      </p:sp>
      <p:sp>
        <p:nvSpPr>
          <p:cNvPr id="51" name="Shape 42"/>
          <p:cNvSpPr/>
          <p:nvPr/>
        </p:nvSpPr>
        <p:spPr>
          <a:xfrm>
            <a:off x="2450592" y="4224528"/>
            <a:ext cx="1455725" cy="347472"/>
          </a:xfrm>
          <a:prstGeom prst="roundRect">
            <a:avLst>
              <a:gd name="adj" fmla="val 50000"/>
            </a:avLst>
          </a:prstGeom>
          <a:solidFill>
            <a:srgbClr val="D9EAD3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2" name="Text 43"/>
          <p:cNvSpPr/>
          <p:nvPr/>
        </p:nvSpPr>
        <p:spPr>
          <a:xfrm>
            <a:off x="2450592" y="4224528"/>
            <a:ext cx="145572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34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 · Llama 3.1</a:t>
            </a:r>
            <a:endParaRPr lang="en-US" sz="1050" dirty="0"/>
          </a:p>
        </p:txBody>
      </p:sp>
      <p:sp>
        <p:nvSpPr>
          <p:cNvPr id="53" name="Shape 44"/>
          <p:cNvSpPr/>
          <p:nvPr/>
        </p:nvSpPr>
        <p:spPr>
          <a:xfrm>
            <a:off x="4052621" y="4224528"/>
            <a:ext cx="780898" cy="347472"/>
          </a:xfrm>
          <a:prstGeom prst="roundRect">
            <a:avLst>
              <a:gd name="adj" fmla="val 50000"/>
            </a:avLst>
          </a:prstGeom>
          <a:solidFill>
            <a:srgbClr val="D9EAD3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4" name="Text 45"/>
          <p:cNvSpPr/>
          <p:nvPr/>
        </p:nvSpPr>
        <p:spPr>
          <a:xfrm>
            <a:off x="4052621" y="4224528"/>
            <a:ext cx="78089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34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Airflow</a:t>
            </a:r>
            <a:endParaRPr lang="en-US" sz="1050" dirty="0"/>
          </a:p>
        </p:txBody>
      </p:sp>
      <p:sp>
        <p:nvSpPr>
          <p:cNvPr id="55" name="Text 46"/>
          <p:cNvSpPr/>
          <p:nvPr/>
        </p:nvSpPr>
        <p:spPr>
          <a:xfrm>
            <a:off x="8321040" y="47365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56" name="Text 47"/>
          <p:cNvSpPr/>
          <p:nvPr/>
        </p:nvSpPr>
        <p:spPr>
          <a:xfrm>
            <a:off x="548640" y="47365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Thumalien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4581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MÉTHODOLOGIE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démarche Agile / Scrum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45720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713232" y="1682496"/>
            <a:ext cx="493776" cy="493776"/>
          </a:xfrm>
          <a:prstGeom prst="ellipse">
            <a:avLst/>
          </a:prstGeom>
          <a:solidFill>
            <a:srgbClr val="D9EAD3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792224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71600" y="160934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sprints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371600" y="1901952"/>
            <a:ext cx="3611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7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projet découpé en 8 parties livrées sur 6 sprints itératifs.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48640" y="2496312"/>
            <a:ext cx="45720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" name="Shape 7"/>
          <p:cNvSpPr/>
          <p:nvPr/>
        </p:nvSpPr>
        <p:spPr>
          <a:xfrm>
            <a:off x="713232" y="2715768"/>
            <a:ext cx="493776" cy="493776"/>
          </a:xfrm>
          <a:prstGeom prst="ellipse">
            <a:avLst/>
          </a:prstGeom>
          <a:solidFill>
            <a:srgbClr val="D9EAD3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2825496"/>
            <a:ext cx="274320" cy="2743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371600" y="264261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Rôles partagés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1371600" y="2935224"/>
            <a:ext cx="3611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7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Engineer (collecte/ETL) &amp; Data Scientist (NLP/modèles).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548640" y="3529584"/>
            <a:ext cx="45720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5" name="Shape 11"/>
          <p:cNvSpPr/>
          <p:nvPr/>
        </p:nvSpPr>
        <p:spPr>
          <a:xfrm>
            <a:off x="713232" y="3749040"/>
            <a:ext cx="493776" cy="493776"/>
          </a:xfrm>
          <a:prstGeom prst="ellipse">
            <a:avLst/>
          </a:prstGeom>
          <a:solidFill>
            <a:srgbClr val="D9EAD3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3858768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371600" y="367588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par partie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1371600" y="3968496"/>
            <a:ext cx="3611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7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chaque lot : scope → implémentation → tests → compte-rendu.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5440680" y="1463040"/>
            <a:ext cx="3154680" cy="3099816"/>
          </a:xfrm>
          <a:prstGeom prst="roundRect">
            <a:avLst>
              <a:gd name="adj" fmla="val 2360"/>
            </a:avLst>
          </a:prstGeom>
          <a:solidFill>
            <a:srgbClr val="0C343D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0" name="Text 15"/>
          <p:cNvSpPr/>
          <p:nvPr/>
        </p:nvSpPr>
        <p:spPr>
          <a:xfrm>
            <a:off x="5669280" y="166420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cycle de sprint</a:t>
            </a:r>
            <a:endParaRPr lang="en-US" sz="1500" dirty="0"/>
          </a:p>
        </p:txBody>
      </p:sp>
      <p:sp>
        <p:nvSpPr>
          <p:cNvPr id="21" name="Shape 16"/>
          <p:cNvSpPr/>
          <p:nvPr/>
        </p:nvSpPr>
        <p:spPr>
          <a:xfrm>
            <a:off x="5669280" y="2167128"/>
            <a:ext cx="256032" cy="256032"/>
          </a:xfrm>
          <a:prstGeom prst="ellipse">
            <a:avLst/>
          </a:prstGeom>
          <a:solidFill>
            <a:srgbClr val="45818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2" name="Text 17"/>
          <p:cNvSpPr/>
          <p:nvPr/>
        </p:nvSpPr>
        <p:spPr>
          <a:xfrm>
            <a:off x="5669280" y="216712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3" name="Text 18"/>
          <p:cNvSpPr/>
          <p:nvPr/>
        </p:nvSpPr>
        <p:spPr>
          <a:xfrm>
            <a:off x="6035040" y="211226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9EA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Planning — cadrage du lot</a:t>
            </a:r>
            <a:endParaRPr lang="en-US" sz="1050" dirty="0"/>
          </a:p>
        </p:txBody>
      </p:sp>
      <p:sp>
        <p:nvSpPr>
          <p:cNvPr id="24" name="Shape 19"/>
          <p:cNvSpPr/>
          <p:nvPr/>
        </p:nvSpPr>
        <p:spPr>
          <a:xfrm>
            <a:off x="5669280" y="2734056"/>
            <a:ext cx="256032" cy="256032"/>
          </a:xfrm>
          <a:prstGeom prst="ellipse">
            <a:avLst/>
          </a:prstGeom>
          <a:solidFill>
            <a:srgbClr val="45818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5" name="Text 20"/>
          <p:cNvSpPr/>
          <p:nvPr/>
        </p:nvSpPr>
        <p:spPr>
          <a:xfrm>
            <a:off x="5669280" y="273405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6" name="Text 21"/>
          <p:cNvSpPr/>
          <p:nvPr/>
        </p:nvSpPr>
        <p:spPr>
          <a:xfrm>
            <a:off x="6035040" y="267919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9EA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Développement &amp; revue de code</a:t>
            </a:r>
            <a:endParaRPr lang="en-US" sz="1050" dirty="0"/>
          </a:p>
        </p:txBody>
      </p:sp>
      <p:sp>
        <p:nvSpPr>
          <p:cNvPr id="27" name="Shape 22"/>
          <p:cNvSpPr/>
          <p:nvPr/>
        </p:nvSpPr>
        <p:spPr>
          <a:xfrm>
            <a:off x="5669280" y="3300984"/>
            <a:ext cx="256032" cy="256032"/>
          </a:xfrm>
          <a:prstGeom prst="ellipse">
            <a:avLst/>
          </a:prstGeom>
          <a:solidFill>
            <a:srgbClr val="45818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8" name="Text 23"/>
          <p:cNvSpPr/>
          <p:nvPr/>
        </p:nvSpPr>
        <p:spPr>
          <a:xfrm>
            <a:off x="5669280" y="3300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9" name="Text 24"/>
          <p:cNvSpPr/>
          <p:nvPr/>
        </p:nvSpPr>
        <p:spPr>
          <a:xfrm>
            <a:off x="6035040" y="32461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9EA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/ validation des livrables</a:t>
            </a:r>
            <a:endParaRPr lang="en-US" sz="1050" dirty="0"/>
          </a:p>
        </p:txBody>
      </p:sp>
      <p:sp>
        <p:nvSpPr>
          <p:cNvPr id="30" name="Shape 25"/>
          <p:cNvSpPr/>
          <p:nvPr/>
        </p:nvSpPr>
        <p:spPr>
          <a:xfrm>
            <a:off x="5669280" y="3867912"/>
            <a:ext cx="256032" cy="256032"/>
          </a:xfrm>
          <a:prstGeom prst="ellipse">
            <a:avLst/>
          </a:prstGeom>
          <a:solidFill>
            <a:srgbClr val="45818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1" name="Text 26"/>
          <p:cNvSpPr/>
          <p:nvPr/>
        </p:nvSpPr>
        <p:spPr>
          <a:xfrm>
            <a:off x="5669280" y="3867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32" name="Text 27"/>
          <p:cNvSpPr/>
          <p:nvPr/>
        </p:nvSpPr>
        <p:spPr>
          <a:xfrm>
            <a:off x="6035040" y="381304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9EA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 compte-rendu (fait · reste · risques)</a:t>
            </a:r>
            <a:endParaRPr lang="en-US" sz="1050" dirty="0"/>
          </a:p>
        </p:txBody>
      </p:sp>
      <p:sp>
        <p:nvSpPr>
          <p:cNvPr id="33" name="Text 28"/>
          <p:cNvSpPr/>
          <p:nvPr/>
        </p:nvSpPr>
        <p:spPr>
          <a:xfrm>
            <a:off x="8321040" y="47365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sp>
        <p:nvSpPr>
          <p:cNvPr id="34" name="Text 29"/>
          <p:cNvSpPr/>
          <p:nvPr/>
        </p:nvSpPr>
        <p:spPr>
          <a:xfrm>
            <a:off x="548640" y="47365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Thumalien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4581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SUIVI DE PROJET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Diagramme de Gantt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2788920" y="1124712"/>
            <a:ext cx="9677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4581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1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2788920" y="1417320"/>
            <a:ext cx="0" cy="3086100"/>
          </a:xfrm>
          <a:prstGeom prst="line">
            <a:avLst/>
          </a:prstGeom>
          <a:noFill/>
          <a:ln w="9525">
            <a:solidFill>
              <a:srgbClr val="DCE7E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3756660" y="1124712"/>
            <a:ext cx="9677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4581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3756660" y="1417320"/>
            <a:ext cx="0" cy="3086100"/>
          </a:xfrm>
          <a:prstGeom prst="line">
            <a:avLst/>
          </a:prstGeom>
          <a:noFill/>
          <a:ln w="9525">
            <a:solidFill>
              <a:srgbClr val="DCE7E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4724400" y="1124712"/>
            <a:ext cx="9677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4581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3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724400" y="1417320"/>
            <a:ext cx="0" cy="3086100"/>
          </a:xfrm>
          <a:prstGeom prst="line">
            <a:avLst/>
          </a:prstGeom>
          <a:noFill/>
          <a:ln w="9525">
            <a:solidFill>
              <a:srgbClr val="DCE7E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5692140" y="1124712"/>
            <a:ext cx="9677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4581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4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692140" y="1417320"/>
            <a:ext cx="0" cy="3086100"/>
          </a:xfrm>
          <a:prstGeom prst="line">
            <a:avLst/>
          </a:prstGeom>
          <a:noFill/>
          <a:ln w="9525">
            <a:solidFill>
              <a:srgbClr val="DCE7E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6659880" y="1124712"/>
            <a:ext cx="9677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4581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5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659880" y="1417320"/>
            <a:ext cx="0" cy="3086100"/>
          </a:xfrm>
          <a:prstGeom prst="line">
            <a:avLst/>
          </a:prstGeom>
          <a:noFill/>
          <a:ln w="9525">
            <a:solidFill>
              <a:srgbClr val="DCE7E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7627620" y="1124712"/>
            <a:ext cx="9677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4581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6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627620" y="1417320"/>
            <a:ext cx="0" cy="3086100"/>
          </a:xfrm>
          <a:prstGeom prst="line">
            <a:avLst/>
          </a:prstGeom>
          <a:noFill/>
          <a:ln w="9525">
            <a:solidFill>
              <a:srgbClr val="DCE7E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Shape 14"/>
          <p:cNvSpPr/>
          <p:nvPr/>
        </p:nvSpPr>
        <p:spPr>
          <a:xfrm>
            <a:off x="8595360" y="1417320"/>
            <a:ext cx="0" cy="3086100"/>
          </a:xfrm>
          <a:prstGeom prst="line">
            <a:avLst/>
          </a:prstGeom>
          <a:noFill/>
          <a:ln w="9525">
            <a:solidFill>
              <a:srgbClr val="DCE7E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Shape 15"/>
          <p:cNvSpPr/>
          <p:nvPr/>
        </p:nvSpPr>
        <p:spPr>
          <a:xfrm>
            <a:off x="548640" y="1417320"/>
            <a:ext cx="8046720" cy="342900"/>
          </a:xfrm>
          <a:prstGeom prst="rect">
            <a:avLst/>
          </a:prstGeom>
          <a:solidFill>
            <a:srgbClr val="EAF1F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566928" y="1417320"/>
            <a:ext cx="214884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P0 · Cadrage &amp; socle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834640" y="1472184"/>
            <a:ext cx="876300" cy="233172"/>
          </a:xfrm>
          <a:prstGeom prst="roundRect">
            <a:avLst>
              <a:gd name="adj" fmla="val 15686"/>
            </a:avLst>
          </a:prstGeom>
          <a:solidFill>
            <a:srgbClr val="45818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566928" y="1760220"/>
            <a:ext cx="214884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· Collecte Bluesky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2834640" y="1815084"/>
            <a:ext cx="876300" cy="233172"/>
          </a:xfrm>
          <a:prstGeom prst="roundRect">
            <a:avLst>
              <a:gd name="adj" fmla="val 15686"/>
            </a:avLst>
          </a:prstGeom>
          <a:solidFill>
            <a:srgbClr val="45818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2" name="Shape 20"/>
          <p:cNvSpPr/>
          <p:nvPr/>
        </p:nvSpPr>
        <p:spPr>
          <a:xfrm>
            <a:off x="548640" y="2103120"/>
            <a:ext cx="8046720" cy="342900"/>
          </a:xfrm>
          <a:prstGeom prst="rect">
            <a:avLst/>
          </a:prstGeom>
          <a:solidFill>
            <a:srgbClr val="EAF1F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3" name="Text 21"/>
          <p:cNvSpPr/>
          <p:nvPr/>
        </p:nvSpPr>
        <p:spPr>
          <a:xfrm>
            <a:off x="566928" y="2103120"/>
            <a:ext cx="214884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 · Prétraitement NLP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802380" y="2157984"/>
            <a:ext cx="876300" cy="233172"/>
          </a:xfrm>
          <a:prstGeom prst="roundRect">
            <a:avLst>
              <a:gd name="adj" fmla="val 15686"/>
            </a:avLst>
          </a:prstGeom>
          <a:solidFill>
            <a:srgbClr val="45818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5" name="Text 23"/>
          <p:cNvSpPr/>
          <p:nvPr/>
        </p:nvSpPr>
        <p:spPr>
          <a:xfrm>
            <a:off x="566928" y="2446020"/>
            <a:ext cx="214884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 · Baseline fake news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770120" y="2500884"/>
            <a:ext cx="876300" cy="233172"/>
          </a:xfrm>
          <a:prstGeom prst="roundRect">
            <a:avLst>
              <a:gd name="adj" fmla="val 15686"/>
            </a:avLst>
          </a:prstGeom>
          <a:solidFill>
            <a:srgbClr val="45818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7" name="Shape 25"/>
          <p:cNvSpPr/>
          <p:nvPr/>
        </p:nvSpPr>
        <p:spPr>
          <a:xfrm>
            <a:off x="548640" y="2788920"/>
            <a:ext cx="8046720" cy="342900"/>
          </a:xfrm>
          <a:prstGeom prst="rect">
            <a:avLst/>
          </a:prstGeom>
          <a:solidFill>
            <a:srgbClr val="EAF1F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8" name="Text 26"/>
          <p:cNvSpPr/>
          <p:nvPr/>
        </p:nvSpPr>
        <p:spPr>
          <a:xfrm>
            <a:off x="566928" y="2788920"/>
            <a:ext cx="214884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 · Analyse émotions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737860" y="2843784"/>
            <a:ext cx="876300" cy="233172"/>
          </a:xfrm>
          <a:prstGeom prst="roundRect">
            <a:avLst>
              <a:gd name="adj" fmla="val 15686"/>
            </a:avLst>
          </a:prstGeom>
          <a:solidFill>
            <a:srgbClr val="45818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0" name="Text 28"/>
          <p:cNvSpPr/>
          <p:nvPr/>
        </p:nvSpPr>
        <p:spPr>
          <a:xfrm>
            <a:off x="566928" y="3131820"/>
            <a:ext cx="214884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P5 · Score &amp; explicabilité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737860" y="3186684"/>
            <a:ext cx="876300" cy="233172"/>
          </a:xfrm>
          <a:prstGeom prst="roundRect">
            <a:avLst>
              <a:gd name="adj" fmla="val 15686"/>
            </a:avLst>
          </a:prstGeom>
          <a:solidFill>
            <a:srgbClr val="45818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2" name="Shape 30"/>
          <p:cNvSpPr/>
          <p:nvPr/>
        </p:nvSpPr>
        <p:spPr>
          <a:xfrm>
            <a:off x="548640" y="3474720"/>
            <a:ext cx="8046720" cy="342900"/>
          </a:xfrm>
          <a:prstGeom prst="rect">
            <a:avLst/>
          </a:prstGeom>
          <a:solidFill>
            <a:srgbClr val="EAF1F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3" name="Text 31"/>
          <p:cNvSpPr/>
          <p:nvPr/>
        </p:nvSpPr>
        <p:spPr>
          <a:xfrm>
            <a:off x="566928" y="3474720"/>
            <a:ext cx="214884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P6 · Dashboard MVP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705600" y="3529584"/>
            <a:ext cx="876300" cy="233172"/>
          </a:xfrm>
          <a:prstGeom prst="roundRect">
            <a:avLst>
              <a:gd name="adj" fmla="val 15686"/>
            </a:avLst>
          </a:prstGeom>
          <a:solidFill>
            <a:srgbClr val="45818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5" name="Text 33"/>
          <p:cNvSpPr/>
          <p:nvPr/>
        </p:nvSpPr>
        <p:spPr>
          <a:xfrm>
            <a:off x="566928" y="3817620"/>
            <a:ext cx="214884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P7 · Monitoring Green IT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7673340" y="3872484"/>
            <a:ext cx="876300" cy="233172"/>
          </a:xfrm>
          <a:prstGeom prst="roundRect">
            <a:avLst>
              <a:gd name="adj" fmla="val 15686"/>
            </a:avLst>
          </a:prstGeom>
          <a:solidFill>
            <a:srgbClr val="E9A23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7" name="Shape 35"/>
          <p:cNvSpPr/>
          <p:nvPr/>
        </p:nvSpPr>
        <p:spPr>
          <a:xfrm>
            <a:off x="548640" y="4160520"/>
            <a:ext cx="8046720" cy="342900"/>
          </a:xfrm>
          <a:prstGeom prst="rect">
            <a:avLst/>
          </a:prstGeom>
          <a:solidFill>
            <a:srgbClr val="EAF1F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8" name="Text 36"/>
          <p:cNvSpPr/>
          <p:nvPr/>
        </p:nvSpPr>
        <p:spPr>
          <a:xfrm>
            <a:off x="566928" y="4160520"/>
            <a:ext cx="214884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P8 · Tests &amp; </a:t>
            </a:r>
            <a:r>
              <a:rPr lang="en-US" sz="950" dirty="0" err="1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soutenance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7673340" y="4215384"/>
            <a:ext cx="876300" cy="233172"/>
          </a:xfrm>
          <a:prstGeom prst="roundRect">
            <a:avLst>
              <a:gd name="adj" fmla="val 15686"/>
            </a:avLst>
          </a:prstGeom>
          <a:solidFill>
            <a:srgbClr val="E9A23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0" name="Shape 38"/>
          <p:cNvSpPr/>
          <p:nvPr/>
        </p:nvSpPr>
        <p:spPr>
          <a:xfrm>
            <a:off x="2788920" y="4572000"/>
            <a:ext cx="201168" cy="146304"/>
          </a:xfrm>
          <a:prstGeom prst="rect">
            <a:avLst/>
          </a:prstGeom>
          <a:solidFill>
            <a:srgbClr val="45818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1" name="Text 39"/>
          <p:cNvSpPr/>
          <p:nvPr/>
        </p:nvSpPr>
        <p:spPr>
          <a:xfrm>
            <a:off x="3035808" y="451713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B7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Terminé (P0–P6)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4892040" y="4572000"/>
            <a:ext cx="201168" cy="146304"/>
          </a:xfrm>
          <a:prstGeom prst="rect">
            <a:avLst/>
          </a:prstGeom>
          <a:solidFill>
            <a:srgbClr val="E9A23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3" name="Text 41"/>
          <p:cNvSpPr/>
          <p:nvPr/>
        </p:nvSpPr>
        <p:spPr>
          <a:xfrm>
            <a:off x="5138928" y="451713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B7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cours / à venir (P7–P8)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8321040" y="47365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48640" y="47365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Thumalien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4581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SUIVI DE PROJET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Tableau Kanban &amp; phases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2587752" cy="3310128"/>
          </a:xfrm>
          <a:prstGeom prst="roundRect">
            <a:avLst>
              <a:gd name="adj" fmla="val 2120"/>
            </a:avLst>
          </a:prstGeom>
          <a:solidFill>
            <a:srgbClr val="EAF1F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548640" y="1325880"/>
            <a:ext cx="2587752" cy="438912"/>
          </a:xfrm>
          <a:prstGeom prst="roundRect">
            <a:avLst>
              <a:gd name="adj" fmla="val 12500"/>
            </a:avLst>
          </a:prstGeom>
          <a:solidFill>
            <a:srgbClr val="5FAE8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685800" y="1325880"/>
            <a:ext cx="17647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Terminé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450592" y="1325880"/>
            <a:ext cx="548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67512" y="1874520"/>
            <a:ext cx="2350008" cy="329184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9" name="Shape 7"/>
          <p:cNvSpPr/>
          <p:nvPr/>
        </p:nvSpPr>
        <p:spPr>
          <a:xfrm>
            <a:off x="786384" y="1979676"/>
            <a:ext cx="118872" cy="118872"/>
          </a:xfrm>
          <a:prstGeom prst="ellipse">
            <a:avLst/>
          </a:prstGeom>
          <a:solidFill>
            <a:srgbClr val="5FAE8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1005840" y="1874520"/>
            <a:ext cx="1984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P0 · Cadrage &amp; socle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67512" y="2272284"/>
            <a:ext cx="2350008" cy="329184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2" name="Shape 10"/>
          <p:cNvSpPr/>
          <p:nvPr/>
        </p:nvSpPr>
        <p:spPr>
          <a:xfrm>
            <a:off x="786384" y="2377440"/>
            <a:ext cx="118872" cy="118872"/>
          </a:xfrm>
          <a:prstGeom prst="ellipse">
            <a:avLst/>
          </a:prstGeom>
          <a:solidFill>
            <a:srgbClr val="5FAE8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1005840" y="2272284"/>
            <a:ext cx="1984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· Collecte Bluesky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67512" y="2670048"/>
            <a:ext cx="2350008" cy="329184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5" name="Shape 13"/>
          <p:cNvSpPr/>
          <p:nvPr/>
        </p:nvSpPr>
        <p:spPr>
          <a:xfrm>
            <a:off x="786384" y="2775204"/>
            <a:ext cx="118872" cy="118872"/>
          </a:xfrm>
          <a:prstGeom prst="ellipse">
            <a:avLst/>
          </a:prstGeom>
          <a:solidFill>
            <a:srgbClr val="5FAE8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1005840" y="2670048"/>
            <a:ext cx="1984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 · Nettoyage NLP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67512" y="3067812"/>
            <a:ext cx="2350008" cy="329184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8" name="Shape 16"/>
          <p:cNvSpPr/>
          <p:nvPr/>
        </p:nvSpPr>
        <p:spPr>
          <a:xfrm>
            <a:off x="786384" y="3172968"/>
            <a:ext cx="118872" cy="118872"/>
          </a:xfrm>
          <a:prstGeom prst="ellipse">
            <a:avLst/>
          </a:prstGeom>
          <a:solidFill>
            <a:srgbClr val="5FAE8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9" name="Text 17"/>
          <p:cNvSpPr/>
          <p:nvPr/>
        </p:nvSpPr>
        <p:spPr>
          <a:xfrm>
            <a:off x="1005840" y="3067812"/>
            <a:ext cx="1984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 · Baseline fake news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67512" y="3465576"/>
            <a:ext cx="2350008" cy="329184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1" name="Shape 19"/>
          <p:cNvSpPr/>
          <p:nvPr/>
        </p:nvSpPr>
        <p:spPr>
          <a:xfrm>
            <a:off x="786384" y="3570732"/>
            <a:ext cx="118872" cy="118872"/>
          </a:xfrm>
          <a:prstGeom prst="ellipse">
            <a:avLst/>
          </a:prstGeom>
          <a:solidFill>
            <a:srgbClr val="5FAE8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2" name="Text 20"/>
          <p:cNvSpPr/>
          <p:nvPr/>
        </p:nvSpPr>
        <p:spPr>
          <a:xfrm>
            <a:off x="1005840" y="3465576"/>
            <a:ext cx="1984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 · Analyse émotions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67512" y="3863340"/>
            <a:ext cx="2350008" cy="329184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4" name="Shape 22"/>
          <p:cNvSpPr/>
          <p:nvPr/>
        </p:nvSpPr>
        <p:spPr>
          <a:xfrm>
            <a:off x="786384" y="3968496"/>
            <a:ext cx="118872" cy="118872"/>
          </a:xfrm>
          <a:prstGeom prst="ellipse">
            <a:avLst/>
          </a:prstGeom>
          <a:solidFill>
            <a:srgbClr val="5FAE8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5" name="Text 23"/>
          <p:cNvSpPr/>
          <p:nvPr/>
        </p:nvSpPr>
        <p:spPr>
          <a:xfrm>
            <a:off x="1005840" y="3863340"/>
            <a:ext cx="1984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P5 · Score + explicabilité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67512" y="4261104"/>
            <a:ext cx="2350008" cy="329184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7" name="Shape 25"/>
          <p:cNvSpPr/>
          <p:nvPr/>
        </p:nvSpPr>
        <p:spPr>
          <a:xfrm>
            <a:off x="786384" y="4366260"/>
            <a:ext cx="118872" cy="118872"/>
          </a:xfrm>
          <a:prstGeom prst="ellipse">
            <a:avLst/>
          </a:prstGeom>
          <a:solidFill>
            <a:srgbClr val="5FAE8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8" name="Text 26"/>
          <p:cNvSpPr/>
          <p:nvPr/>
        </p:nvSpPr>
        <p:spPr>
          <a:xfrm>
            <a:off x="1005840" y="4261104"/>
            <a:ext cx="1984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P6 · Dashboard MVP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3255264" y="1325880"/>
            <a:ext cx="2587752" cy="3310128"/>
          </a:xfrm>
          <a:prstGeom prst="roundRect">
            <a:avLst>
              <a:gd name="adj" fmla="val 2120"/>
            </a:avLst>
          </a:prstGeom>
          <a:solidFill>
            <a:srgbClr val="EAF1F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0" name="Shape 28"/>
          <p:cNvSpPr/>
          <p:nvPr/>
        </p:nvSpPr>
        <p:spPr>
          <a:xfrm>
            <a:off x="3255264" y="1325880"/>
            <a:ext cx="2587752" cy="438912"/>
          </a:xfrm>
          <a:prstGeom prst="roundRect">
            <a:avLst>
              <a:gd name="adj" fmla="val 12500"/>
            </a:avLst>
          </a:prstGeom>
          <a:solidFill>
            <a:srgbClr val="E9A23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1" name="Text 29"/>
          <p:cNvSpPr/>
          <p:nvPr/>
        </p:nvSpPr>
        <p:spPr>
          <a:xfrm>
            <a:off x="3392424" y="1325880"/>
            <a:ext cx="17647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cours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5157216" y="1325880"/>
            <a:ext cx="548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374136" y="1874520"/>
            <a:ext cx="2350008" cy="329184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4" name="Shape 32"/>
          <p:cNvSpPr/>
          <p:nvPr/>
        </p:nvSpPr>
        <p:spPr>
          <a:xfrm>
            <a:off x="3493008" y="1979676"/>
            <a:ext cx="118872" cy="118872"/>
          </a:xfrm>
          <a:prstGeom prst="ellipse">
            <a:avLst/>
          </a:prstGeom>
          <a:solidFill>
            <a:srgbClr val="E9A23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5" name="Text 33"/>
          <p:cNvSpPr/>
          <p:nvPr/>
        </p:nvSpPr>
        <p:spPr>
          <a:xfrm>
            <a:off x="3712464" y="1874520"/>
            <a:ext cx="1984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P7 · Monitoring énergétique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5961888" y="1325880"/>
            <a:ext cx="2587752" cy="3310128"/>
          </a:xfrm>
          <a:prstGeom prst="roundRect">
            <a:avLst>
              <a:gd name="adj" fmla="val 2120"/>
            </a:avLst>
          </a:prstGeom>
          <a:solidFill>
            <a:srgbClr val="EAF1F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7" name="Shape 35"/>
          <p:cNvSpPr/>
          <p:nvPr/>
        </p:nvSpPr>
        <p:spPr>
          <a:xfrm>
            <a:off x="5961888" y="1325880"/>
            <a:ext cx="2587752" cy="438912"/>
          </a:xfrm>
          <a:prstGeom prst="roundRect">
            <a:avLst>
              <a:gd name="adj" fmla="val 12500"/>
            </a:avLst>
          </a:prstGeom>
          <a:solidFill>
            <a:srgbClr val="76A5A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8" name="Text 36"/>
          <p:cNvSpPr/>
          <p:nvPr/>
        </p:nvSpPr>
        <p:spPr>
          <a:xfrm>
            <a:off x="6099048" y="1325880"/>
            <a:ext cx="17647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faire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7863840" y="1325880"/>
            <a:ext cx="548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6080760" y="1874520"/>
            <a:ext cx="2350008" cy="329184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41" name="Shape 39"/>
          <p:cNvSpPr/>
          <p:nvPr/>
        </p:nvSpPr>
        <p:spPr>
          <a:xfrm>
            <a:off x="6199632" y="1979676"/>
            <a:ext cx="118872" cy="118872"/>
          </a:xfrm>
          <a:prstGeom prst="ellipse">
            <a:avLst/>
          </a:prstGeom>
          <a:solidFill>
            <a:srgbClr val="76A5A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2" name="Text 40"/>
          <p:cNvSpPr/>
          <p:nvPr/>
        </p:nvSpPr>
        <p:spPr>
          <a:xfrm>
            <a:off x="6419088" y="1874520"/>
            <a:ext cx="1984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P8 · Tests unitaires &amp; intégration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6080760" y="2272284"/>
            <a:ext cx="2350008" cy="329184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44" name="Shape 42"/>
          <p:cNvSpPr/>
          <p:nvPr/>
        </p:nvSpPr>
        <p:spPr>
          <a:xfrm>
            <a:off x="6199632" y="2377440"/>
            <a:ext cx="118872" cy="118872"/>
          </a:xfrm>
          <a:prstGeom prst="ellipse">
            <a:avLst/>
          </a:prstGeom>
          <a:solidFill>
            <a:srgbClr val="76A5A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5" name="Text 43"/>
          <p:cNvSpPr/>
          <p:nvPr/>
        </p:nvSpPr>
        <p:spPr>
          <a:xfrm>
            <a:off x="6419088" y="2272284"/>
            <a:ext cx="1984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 &amp; guide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6080760" y="2670048"/>
            <a:ext cx="2350008" cy="329184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47" name="Shape 45"/>
          <p:cNvSpPr/>
          <p:nvPr/>
        </p:nvSpPr>
        <p:spPr>
          <a:xfrm>
            <a:off x="6199632" y="2775204"/>
            <a:ext cx="118872" cy="118872"/>
          </a:xfrm>
          <a:prstGeom prst="ellipse">
            <a:avLst/>
          </a:prstGeom>
          <a:solidFill>
            <a:srgbClr val="76A5A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8" name="Text 46"/>
          <p:cNvSpPr/>
          <p:nvPr/>
        </p:nvSpPr>
        <p:spPr>
          <a:xfrm>
            <a:off x="6419088" y="2670048"/>
            <a:ext cx="1984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Vidéo de démonstration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6080760" y="3067812"/>
            <a:ext cx="2350008" cy="329184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0" name="Shape 48"/>
          <p:cNvSpPr/>
          <p:nvPr/>
        </p:nvSpPr>
        <p:spPr>
          <a:xfrm>
            <a:off x="6199632" y="3172968"/>
            <a:ext cx="118872" cy="118872"/>
          </a:xfrm>
          <a:prstGeom prst="ellipse">
            <a:avLst/>
          </a:prstGeom>
          <a:solidFill>
            <a:srgbClr val="76A5A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1" name="Text 49"/>
          <p:cNvSpPr/>
          <p:nvPr/>
        </p:nvSpPr>
        <p:spPr>
          <a:xfrm>
            <a:off x="6419088" y="3067812"/>
            <a:ext cx="1984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Rapport final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8321040" y="47365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548640" y="47365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Thumalien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4581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TRAVAUX RÉALISÉS ·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Collecte &amp; prétraitement NLP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074920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731520" y="1719072"/>
            <a:ext cx="731520" cy="731520"/>
          </a:xfrm>
          <a:prstGeom prst="ellipse">
            <a:avLst/>
          </a:prstGeom>
          <a:solidFill>
            <a:srgbClr val="134F5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731520" y="171907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627632" y="1627632"/>
            <a:ext cx="3886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Collecte Bluesky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627632" y="1920240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7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officielle searchPosts par mots-clés FR/EN (fake news, hoax, désinformation…). Pagination, retries, stockage brut dans MongoDB posts_raw avec identifiant unique.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48640" y="2880360"/>
            <a:ext cx="5074920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" name="Shape 8"/>
          <p:cNvSpPr/>
          <p:nvPr/>
        </p:nvSpPr>
        <p:spPr>
          <a:xfrm>
            <a:off x="731520" y="3136392"/>
            <a:ext cx="731520" cy="731520"/>
          </a:xfrm>
          <a:prstGeom prst="ellipse">
            <a:avLst/>
          </a:prstGeom>
          <a:solidFill>
            <a:srgbClr val="134F5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731520" y="313639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1627632" y="3044952"/>
            <a:ext cx="3886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Nettoyage NLP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627632" y="3337560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7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Suppression URLs, mentions, hashtags et emojis ; accents conservés pour le français ; enrichissement métadonnées (langue, longueur, tokens). Sortie posts_clean.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852160" y="1463040"/>
            <a:ext cx="2743200" cy="2679192"/>
          </a:xfrm>
          <a:prstGeom prst="roundRect">
            <a:avLst>
              <a:gd name="adj" fmla="val 2730"/>
            </a:avLst>
          </a:prstGeom>
          <a:solidFill>
            <a:srgbClr val="0C343D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6035040" y="16459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VOLUMÉTRIE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035040" y="199339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D9EA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22 408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7086600" y="1993392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posts collectés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035040" y="254203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D9EA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22 408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7086600" y="2542032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uniques (dédupliqués)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035040" y="309067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D9EA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22 184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7086600" y="3090672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posts nettoyés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035040" y="363931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D9EA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224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7086600" y="3639312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écartés (trop courts)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8321040" y="47365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48640" y="47365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Thumalien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4581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TRAVAUX RÉALISÉS · 1b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Filtre d'affirmations factuelles (Claim Detection)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074920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731520" y="1719072"/>
            <a:ext cx="731520" cy="731520"/>
          </a:xfrm>
          <a:prstGeom prst="ellipse">
            <a:avLst/>
          </a:prstGeom>
          <a:solidFill>
            <a:srgbClr val="134F5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731520" y="171907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627632" y="1627632"/>
            <a:ext cx="3886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Problème identifié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627632" y="1920240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7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modèle baseline scorait 96,4 % des posts comme « fake », y compris des posts personnels (ex. « je suis fatigué »). Cause : entraîné sur des articles de presse, pas sur des posts sociaux.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48640" y="2880360"/>
            <a:ext cx="5074920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" name="Shape 8"/>
          <p:cNvSpPr/>
          <p:nvPr/>
        </p:nvSpPr>
        <p:spPr>
          <a:xfrm>
            <a:off x="731520" y="3136392"/>
            <a:ext cx="731520" cy="731520"/>
          </a:xfrm>
          <a:prstGeom prst="ellipse">
            <a:avLst/>
          </a:prstGeom>
          <a:solidFill>
            <a:srgbClr val="134F5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731520" y="313639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1627632" y="3044952"/>
            <a:ext cx="3886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: Claim Detection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627632" y="3337560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7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Classifier en amont : « ce post contient-il une affirmation factuelle vérifiable ? »  OUI → pipeline fake news  |  NON → post personnel ignoré.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852160" y="1463040"/>
            <a:ext cx="2743200" cy="2679192"/>
          </a:xfrm>
          <a:prstGeom prst="roundRect">
            <a:avLst>
              <a:gd name="adj" fmla="val 2730"/>
            </a:avLst>
          </a:prstGeom>
          <a:solidFill>
            <a:srgbClr val="0C343D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6035040" y="16459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APPROCHE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035040" y="199339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D9EA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 / EN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7086600" y="1993392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bilingue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035040" y="254203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D9EA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7086600" y="2542032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critères de scoring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035040" y="309067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D9EA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88,5 %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7086600" y="3090672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affirmations factuelles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035040" y="363931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D9EA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2 550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7086600" y="3639312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posts filtrés (11,5 %)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8321040" y="47365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09b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48640" y="47365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Thumalien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4581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TRAVAUX RÉALISÉS ·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fake news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baseline : </a:t>
            </a:r>
            <a:r>
              <a:rPr lang="en-US" sz="1400" b="1" dirty="0">
                <a:solidFill>
                  <a:srgbClr val="134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+ Régression Logistique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50292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34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Entraîné sur GonzaloA/fake_news (HuggingFace, ~40 000 articles labellisés)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34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train / validation / test ; métriques F1, précision, rappel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34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sauvegardé puis appliqué (scoring) sur les posts collectés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34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Sortie : credibility_score · predicted_label · alert_level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48640" y="3977640"/>
            <a:ext cx="5120640" cy="658368"/>
          </a:xfrm>
          <a:prstGeom prst="roundRect">
            <a:avLst>
              <a:gd name="adj" fmla="val 11111"/>
            </a:avLst>
          </a:prstGeom>
          <a:solidFill>
            <a:srgbClr val="D9EAD3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731520" y="3977640"/>
            <a:ext cx="4846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34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97,7 %</a:t>
            </a:r>
            <a:r>
              <a:rPr lang="en-US" sz="1200" dirty="0">
                <a:solidFill>
                  <a:srgbClr val="134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F1-score (weighted) sur le jeu de test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5943600" y="1371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Posts classés</a:t>
            </a:r>
            <a:endParaRPr lang="en-US" sz="1200" dirty="0"/>
          </a:p>
        </p:txBody>
      </p:sp>
      <p:graphicFrame>
        <p:nvGraphicFramePr>
          <p:cNvPr id="9" name="Chart 0"/>
          <p:cNvGraphicFramePr/>
          <p:nvPr/>
        </p:nvGraphicFramePr>
        <p:xfrm>
          <a:off x="5806440" y="1554480"/>
          <a:ext cx="2834640" cy="3063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" name="Text 7"/>
          <p:cNvSpPr/>
          <p:nvPr/>
        </p:nvSpPr>
        <p:spPr>
          <a:xfrm>
            <a:off x="8321040" y="47365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48640" y="47365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Thumalien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3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4581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TRAVAUX RÉALISÉS ·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Émotions &amp; score de crédibilité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977640" cy="3154680"/>
          </a:xfrm>
          <a:prstGeom prst="roundRect">
            <a:avLst>
              <a:gd name="adj" fmla="val 2319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777240" y="1572768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émotionnelle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777240" y="1901952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7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VADER (sentiment) + lexique custom : colère, peur, joie, tristesse, surprise, humour.</a:t>
            </a:r>
            <a:endParaRPr lang="en-US" sz="1050" dirty="0"/>
          </a:p>
        </p:txBody>
      </p:sp>
      <p:graphicFrame>
        <p:nvGraphicFramePr>
          <p:cNvPr id="7" name="Chart 0"/>
          <p:cNvGraphicFramePr/>
          <p:nvPr/>
        </p:nvGraphicFramePr>
        <p:xfrm>
          <a:off x="640080" y="2377440"/>
          <a:ext cx="3794760" cy="2103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Shape 5"/>
          <p:cNvSpPr/>
          <p:nvPr/>
        </p:nvSpPr>
        <p:spPr>
          <a:xfrm>
            <a:off x="4709160" y="1417320"/>
            <a:ext cx="3886200" cy="3154680"/>
          </a:xfrm>
          <a:prstGeom prst="roundRect">
            <a:avLst>
              <a:gd name="adj" fmla="val 2319"/>
            </a:avLst>
          </a:prstGeom>
          <a:solidFill>
            <a:srgbClr val="0C343D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9" name="Text 6"/>
          <p:cNvSpPr/>
          <p:nvPr/>
        </p:nvSpPr>
        <p:spPr>
          <a:xfrm>
            <a:off x="4937760" y="1572768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final &amp; explicabilité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4937760" y="1901952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9EA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combiné, normalisé 0–100, avec une phrase explicative lisible par poste (fact-checking).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4937760" y="2542032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4581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70 %</a:t>
            </a:r>
            <a:endParaRPr lang="en-US" sz="1900" dirty="0"/>
          </a:p>
        </p:txBody>
      </p:sp>
      <p:sp>
        <p:nvSpPr>
          <p:cNvPr id="12" name="Text 9"/>
          <p:cNvSpPr/>
          <p:nvPr/>
        </p:nvSpPr>
        <p:spPr>
          <a:xfrm>
            <a:off x="5852160" y="2542032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Risque fake news (modèle)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4937760" y="3044952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20 %</a:t>
            </a:r>
            <a:endParaRPr lang="en-US" sz="1900" dirty="0"/>
          </a:p>
        </p:txBody>
      </p:sp>
      <p:sp>
        <p:nvSpPr>
          <p:cNvPr id="14" name="Text 11"/>
          <p:cNvSpPr/>
          <p:nvPr/>
        </p:nvSpPr>
        <p:spPr>
          <a:xfrm>
            <a:off x="5852160" y="3044952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Risque sentiment négatif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4937760" y="3547872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9CC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10 %</a:t>
            </a:r>
            <a:endParaRPr lang="en-US" sz="1900" dirty="0"/>
          </a:p>
        </p:txBody>
      </p:sp>
      <p:sp>
        <p:nvSpPr>
          <p:cNvPr id="16" name="Text 13"/>
          <p:cNvSpPr/>
          <p:nvPr/>
        </p:nvSpPr>
        <p:spPr>
          <a:xfrm>
            <a:off x="5852160" y="3547872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Risque émotion (colère/peur)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4937760" y="4114800"/>
            <a:ext cx="3474720" cy="347472"/>
          </a:xfrm>
          <a:prstGeom prst="roundRect">
            <a:avLst>
              <a:gd name="adj" fmla="val 50000"/>
            </a:avLst>
          </a:prstGeom>
          <a:solidFill>
            <a:srgbClr val="134F5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8" name="Text 15"/>
          <p:cNvSpPr/>
          <p:nvPr/>
        </p:nvSpPr>
        <p:spPr>
          <a:xfrm>
            <a:off x="4937760" y="4114800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D9EA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final_credibility_score · final_alert_level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8321040" y="47365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548640" y="47365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Thumalien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4581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TRAVAUX RÉALISÉS · 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MVP &amp; agent IA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029200" cy="676656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676656" y="1591056"/>
            <a:ext cx="420624" cy="420624"/>
          </a:xfrm>
          <a:prstGeom prst="ellipse">
            <a:avLst/>
          </a:prstGeom>
          <a:solidFill>
            <a:srgbClr val="D9EAD3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" y="1682496"/>
            <a:ext cx="237744" cy="23774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34440" y="153619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KPIs &amp; visualisations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1234440" y="1810512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5B7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Volume, alertes hautes, score moyen, séries temporelles.</a:t>
            </a:r>
            <a:endParaRPr lang="en-US" sz="980" dirty="0"/>
          </a:p>
        </p:txBody>
      </p:sp>
      <p:sp>
        <p:nvSpPr>
          <p:cNvPr id="9" name="Shape 6"/>
          <p:cNvSpPr/>
          <p:nvPr/>
        </p:nvSpPr>
        <p:spPr>
          <a:xfrm>
            <a:off x="548640" y="2240280"/>
            <a:ext cx="5029200" cy="676656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" name="Shape 7"/>
          <p:cNvSpPr/>
          <p:nvPr/>
        </p:nvSpPr>
        <p:spPr>
          <a:xfrm>
            <a:off x="676656" y="2368296"/>
            <a:ext cx="420624" cy="420624"/>
          </a:xfrm>
          <a:prstGeom prst="ellipse">
            <a:avLst/>
          </a:prstGeom>
          <a:solidFill>
            <a:srgbClr val="D9EAD3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096" y="2459736"/>
            <a:ext cx="237744" cy="23774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234440" y="231343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Filtres dynamiques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1234440" y="2587752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5B7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Langue, niveau d'alerte, émotion, date, recherche libre.</a:t>
            </a:r>
            <a:endParaRPr lang="en-US" sz="980" dirty="0"/>
          </a:p>
        </p:txBody>
      </p:sp>
      <p:sp>
        <p:nvSpPr>
          <p:cNvPr id="14" name="Shape 10"/>
          <p:cNvSpPr/>
          <p:nvPr/>
        </p:nvSpPr>
        <p:spPr>
          <a:xfrm>
            <a:off x="548640" y="3017520"/>
            <a:ext cx="5029200" cy="676656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5" name="Shape 11"/>
          <p:cNvSpPr/>
          <p:nvPr/>
        </p:nvSpPr>
        <p:spPr>
          <a:xfrm>
            <a:off x="676656" y="3145536"/>
            <a:ext cx="420624" cy="420624"/>
          </a:xfrm>
          <a:prstGeom prst="ellipse">
            <a:avLst/>
          </a:prstGeom>
          <a:solidFill>
            <a:srgbClr val="D9EAD3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8096" y="3236976"/>
            <a:ext cx="237744" cy="23774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234440" y="309067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détaillée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1234440" y="3364992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5B7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post avec son score et le détail (breakdown).</a:t>
            </a:r>
            <a:endParaRPr lang="en-US" sz="980" dirty="0"/>
          </a:p>
        </p:txBody>
      </p:sp>
      <p:sp>
        <p:nvSpPr>
          <p:cNvPr id="19" name="Shape 14"/>
          <p:cNvSpPr/>
          <p:nvPr/>
        </p:nvSpPr>
        <p:spPr>
          <a:xfrm>
            <a:off x="548640" y="3794760"/>
            <a:ext cx="5029200" cy="676656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0" name="Shape 15"/>
          <p:cNvSpPr/>
          <p:nvPr/>
        </p:nvSpPr>
        <p:spPr>
          <a:xfrm>
            <a:off x="676656" y="3922776"/>
            <a:ext cx="420624" cy="420624"/>
          </a:xfrm>
          <a:prstGeom prst="ellipse">
            <a:avLst/>
          </a:prstGeom>
          <a:solidFill>
            <a:srgbClr val="D9EAD3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8096" y="4014216"/>
            <a:ext cx="237744" cy="23774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234440" y="386791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IA (gratuit)</a:t>
            </a:r>
            <a:endParaRPr lang="en-US" sz="1250" dirty="0"/>
          </a:p>
        </p:txBody>
      </p:sp>
      <p:sp>
        <p:nvSpPr>
          <p:cNvPr id="23" name="Text 17"/>
          <p:cNvSpPr/>
          <p:nvPr/>
        </p:nvSpPr>
        <p:spPr>
          <a:xfrm>
            <a:off x="1234440" y="4142232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5B7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Chatbot Groq · Llama 3.1 pour interroger les tendances.</a:t>
            </a:r>
            <a:endParaRPr lang="en-US" sz="980" dirty="0"/>
          </a:p>
        </p:txBody>
      </p:sp>
      <p:sp>
        <p:nvSpPr>
          <p:cNvPr id="24" name="Shape 18"/>
          <p:cNvSpPr/>
          <p:nvPr/>
        </p:nvSpPr>
        <p:spPr>
          <a:xfrm>
            <a:off x="5852160" y="1463040"/>
            <a:ext cx="2743200" cy="3099816"/>
          </a:xfrm>
          <a:prstGeom prst="roundRect">
            <a:avLst>
              <a:gd name="adj" fmla="val 2667"/>
            </a:avLst>
          </a:prstGeom>
          <a:solidFill>
            <a:srgbClr val="134F5C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5" name="Shape 19"/>
          <p:cNvSpPr/>
          <p:nvPr/>
        </p:nvSpPr>
        <p:spPr>
          <a:xfrm>
            <a:off x="6903720" y="1828800"/>
            <a:ext cx="640080" cy="640080"/>
          </a:xfrm>
          <a:prstGeom prst="ellipse">
            <a:avLst/>
          </a:prstGeom>
          <a:solidFill>
            <a:srgbClr val="0C343D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22592" y="1947672"/>
            <a:ext cx="402336" cy="402336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5989320" y="26060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Démonstration live</a:t>
            </a:r>
            <a:endParaRPr lang="en-US" sz="1500" dirty="0"/>
          </a:p>
        </p:txBody>
      </p:sp>
      <p:sp>
        <p:nvSpPr>
          <p:cNvPr id="28" name="Text 21"/>
          <p:cNvSpPr/>
          <p:nvPr/>
        </p:nvSpPr>
        <p:spPr>
          <a:xfrm>
            <a:off x="6035040" y="294436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D9EA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Streamlit en conditions réelles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>
            <a:off x="6172200" y="361188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D9EAD3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0" name="Text 23"/>
          <p:cNvSpPr/>
          <p:nvPr/>
        </p:nvSpPr>
        <p:spPr>
          <a:xfrm>
            <a:off x="6172200" y="361188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34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localhost:8501</a:t>
            </a:r>
            <a:endParaRPr lang="en-US" sz="1100" dirty="0"/>
          </a:p>
        </p:txBody>
      </p:sp>
      <p:sp>
        <p:nvSpPr>
          <p:cNvPr id="31" name="Text 24"/>
          <p:cNvSpPr/>
          <p:nvPr/>
        </p:nvSpPr>
        <p:spPr>
          <a:xfrm>
            <a:off x="8321040" y="47365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32" name="Text 25"/>
          <p:cNvSpPr/>
          <p:nvPr/>
        </p:nvSpPr>
        <p:spPr>
          <a:xfrm>
            <a:off x="548640" y="47365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Thumalien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C34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80960" y="-1097280"/>
            <a:ext cx="3108960" cy="3108960"/>
          </a:xfrm>
          <a:prstGeom prst="ellipse">
            <a:avLst/>
          </a:prstGeom>
          <a:solidFill>
            <a:srgbClr val="134F5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RÉSULTATS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Indicateurs obtenus sur données réelles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1856232" cy="1234440"/>
          </a:xfrm>
          <a:prstGeom prst="roundRect">
            <a:avLst>
              <a:gd name="adj" fmla="val 5926"/>
            </a:avLst>
          </a:prstGeom>
          <a:solidFill>
            <a:srgbClr val="134F5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594360" y="1517904"/>
            <a:ext cx="1764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D9EA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22 408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94360" y="2212848"/>
            <a:ext cx="1764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posts collectés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583180" y="1417320"/>
            <a:ext cx="1856232" cy="1234440"/>
          </a:xfrm>
          <a:prstGeom prst="roundRect">
            <a:avLst>
              <a:gd name="adj" fmla="val 5926"/>
            </a:avLst>
          </a:prstGeom>
          <a:solidFill>
            <a:srgbClr val="134F5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2628900" y="1517904"/>
            <a:ext cx="1764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D9EA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97,7 %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2628900" y="2212848"/>
            <a:ext cx="1764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F1-score du modèle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617720" y="1417320"/>
            <a:ext cx="1856232" cy="1234440"/>
          </a:xfrm>
          <a:prstGeom prst="roundRect">
            <a:avLst>
              <a:gd name="adj" fmla="val 5926"/>
            </a:avLst>
          </a:prstGeom>
          <a:solidFill>
            <a:srgbClr val="134F5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4663440" y="1517904"/>
            <a:ext cx="1764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D9EA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19 634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4663440" y="2212848"/>
            <a:ext cx="1764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posts analysés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652260" y="1417320"/>
            <a:ext cx="1856232" cy="1234440"/>
          </a:xfrm>
          <a:prstGeom prst="roundRect">
            <a:avLst>
              <a:gd name="adj" fmla="val 5926"/>
            </a:avLst>
          </a:prstGeom>
          <a:solidFill>
            <a:srgbClr val="134F5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6697980" y="1517904"/>
            <a:ext cx="1764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3B6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4 912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6697980" y="2212848"/>
            <a:ext cx="1764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alertes hautes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48640" y="2926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Répartition des niveaux d'alerte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3310128"/>
            <a:ext cx="548878" cy="457200"/>
          </a:xfrm>
          <a:prstGeom prst="rect">
            <a:avLst/>
          </a:prstGeom>
          <a:solidFill>
            <a:srgbClr val="5FAE8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9" name="Text 17"/>
          <p:cNvSpPr/>
          <p:nvPr/>
        </p:nvSpPr>
        <p:spPr>
          <a:xfrm>
            <a:off x="548640" y="3310128"/>
            <a:ext cx="5488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1 545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1097518" y="3310128"/>
            <a:ext cx="5565445" cy="457200"/>
          </a:xfrm>
          <a:prstGeom prst="rect">
            <a:avLst/>
          </a:prstGeom>
          <a:solidFill>
            <a:srgbClr val="E9A23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1" name="Text 19"/>
          <p:cNvSpPr/>
          <p:nvPr/>
        </p:nvSpPr>
        <p:spPr>
          <a:xfrm>
            <a:off x="1097518" y="3310128"/>
            <a:ext cx="556544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13 177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662962" y="3310128"/>
            <a:ext cx="1932398" cy="457200"/>
          </a:xfrm>
          <a:prstGeom prst="rect">
            <a:avLst/>
          </a:prstGeom>
          <a:solidFill>
            <a:srgbClr val="E15D4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3" name="Text 21"/>
          <p:cNvSpPr/>
          <p:nvPr/>
        </p:nvSpPr>
        <p:spPr>
          <a:xfrm>
            <a:off x="6662962" y="3310128"/>
            <a:ext cx="19323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4 912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3977640"/>
            <a:ext cx="164592" cy="164592"/>
          </a:xfrm>
          <a:prstGeom prst="ellipse">
            <a:avLst/>
          </a:prstGeom>
          <a:solidFill>
            <a:srgbClr val="5FAE8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5" name="Text 23"/>
          <p:cNvSpPr/>
          <p:nvPr/>
        </p:nvSpPr>
        <p:spPr>
          <a:xfrm>
            <a:off x="786384" y="392277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9EA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Faible — 1 545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2377440" y="3977640"/>
            <a:ext cx="164592" cy="164592"/>
          </a:xfrm>
          <a:prstGeom prst="ellipse">
            <a:avLst/>
          </a:prstGeom>
          <a:solidFill>
            <a:srgbClr val="E9A23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7" name="Text 25"/>
          <p:cNvSpPr/>
          <p:nvPr/>
        </p:nvSpPr>
        <p:spPr>
          <a:xfrm>
            <a:off x="2615184" y="392277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9EA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Moyen — 13 177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206240" y="3977640"/>
            <a:ext cx="164592" cy="164592"/>
          </a:xfrm>
          <a:prstGeom prst="ellipse">
            <a:avLst/>
          </a:prstGeom>
          <a:solidFill>
            <a:srgbClr val="E15D4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9" name="Text 27"/>
          <p:cNvSpPr/>
          <p:nvPr/>
        </p:nvSpPr>
        <p:spPr>
          <a:xfrm>
            <a:off x="4443984" y="392277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9EA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Élevé — 4 912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48640" y="43891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de crédibilité moyen : 0,44 / 1  ·  émotion dominante la plus fréquente : négatif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321040" y="47365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48640" y="47365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Thumalien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4581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IT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Empreinte carbone du pipeline (CodeCarbon)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074920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731520" y="1719072"/>
            <a:ext cx="731520" cy="731520"/>
          </a:xfrm>
          <a:prstGeom prst="ellipse">
            <a:avLst/>
          </a:prstGeom>
          <a:solidFill>
            <a:srgbClr val="134F5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731520" y="171907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627632" y="1627632"/>
            <a:ext cx="3886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CodeCarbon intégré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627632" y="1920240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7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CodeCarbon mesure l'empreinte du pipeline ML : entraînement TF-IDF + LogReg et analyse émotionnelle (batch). Sortie models/emissions.csv (kgCO₂eq + kWh par run).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48640" y="2880360"/>
            <a:ext cx="5074920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" name="Shape 8"/>
          <p:cNvSpPr/>
          <p:nvPr/>
        </p:nvSpPr>
        <p:spPr>
          <a:xfrm>
            <a:off x="731520" y="3136392"/>
            <a:ext cx="731520" cy="731520"/>
          </a:xfrm>
          <a:prstGeom prst="ellipse">
            <a:avLst/>
          </a:prstGeom>
          <a:solidFill>
            <a:srgbClr val="134F5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731520" y="313639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1627632" y="3044952"/>
            <a:ext cx="3886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Mesure &amp; comparaison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627632" y="3337560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7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runs par étape, machine locale, mix électrique France (Île-de-France). Indicateurs : énergie (Wh), CO₂ (gCO₂eq), durée — base de comparaison entre configurations.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852160" y="1463040"/>
            <a:ext cx="2743200" cy="2679192"/>
          </a:xfrm>
          <a:prstGeom prst="roundRect">
            <a:avLst>
              <a:gd name="adj" fmla="val 2730"/>
            </a:avLst>
          </a:prstGeom>
          <a:solidFill>
            <a:srgbClr val="0C343D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6035040" y="16459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EMPREINTE PAR RUN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035040" y="199339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D9EA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118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7086600" y="1993392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gCO₂eq · pipeline complet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035040" y="254203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D9EA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43,6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7086600" y="2542032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 consommés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035040" y="309067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D9EA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9,1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7086600" y="3090672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 d'exécution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035040" y="363931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D9EA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≈1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7086600" y="3639312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 en voiture (équiv.)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8321040" y="47365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48640" y="47365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Thumalien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3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4581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PERSPECTIVES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Pistes d'amélioration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3931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749808" y="1700784"/>
            <a:ext cx="585216" cy="585216"/>
          </a:xfrm>
          <a:prstGeom prst="ellipse">
            <a:avLst/>
          </a:prstGeom>
          <a:solidFill>
            <a:srgbClr val="D9EAD3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1837944"/>
            <a:ext cx="310896" cy="31089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08760" y="164592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 énergétique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1508760" y="1956816"/>
            <a:ext cx="28529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20" dirty="0">
                <a:solidFill>
                  <a:srgbClr val="5B7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Empreinte désormais mesurée (CodeCarbon) : place à l'optimisation — comparer les configurations, traiter en heures creuses, alléger le modèle.</a:t>
            </a:r>
            <a:endParaRPr lang="en-US" sz="1020" dirty="0"/>
          </a:p>
        </p:txBody>
      </p:sp>
      <p:sp>
        <p:nvSpPr>
          <p:cNvPr id="9" name="Shape 6"/>
          <p:cNvSpPr/>
          <p:nvPr/>
        </p:nvSpPr>
        <p:spPr>
          <a:xfrm>
            <a:off x="4709160" y="1463040"/>
            <a:ext cx="3931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" name="Shape 7"/>
          <p:cNvSpPr/>
          <p:nvPr/>
        </p:nvSpPr>
        <p:spPr>
          <a:xfrm>
            <a:off x="4910328" y="1700784"/>
            <a:ext cx="585216" cy="585216"/>
          </a:xfrm>
          <a:prstGeom prst="ellipse">
            <a:avLst/>
          </a:prstGeom>
          <a:solidFill>
            <a:srgbClr val="D9EAD3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7488" y="1837944"/>
            <a:ext cx="310896" cy="31089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669280" y="164592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Modèles avancés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5669280" y="1956816"/>
            <a:ext cx="28529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20" dirty="0">
                <a:solidFill>
                  <a:srgbClr val="5B7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Passer de la baseline à BERT / RoBERTa et un modèle d'émotions spécialisé pour gagner en finesse.</a:t>
            </a:r>
            <a:endParaRPr lang="en-US" sz="1020" dirty="0"/>
          </a:p>
        </p:txBody>
      </p:sp>
      <p:sp>
        <p:nvSpPr>
          <p:cNvPr id="14" name="Shape 10"/>
          <p:cNvSpPr/>
          <p:nvPr/>
        </p:nvSpPr>
        <p:spPr>
          <a:xfrm>
            <a:off x="548640" y="2971800"/>
            <a:ext cx="3931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5" name="Shape 11"/>
          <p:cNvSpPr/>
          <p:nvPr/>
        </p:nvSpPr>
        <p:spPr>
          <a:xfrm>
            <a:off x="749808" y="3209544"/>
            <a:ext cx="585216" cy="585216"/>
          </a:xfrm>
          <a:prstGeom prst="ellipse">
            <a:avLst/>
          </a:prstGeom>
          <a:solidFill>
            <a:srgbClr val="D9EAD3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6968" y="3346704"/>
            <a:ext cx="310896" cy="31089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508760" y="315468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Industrialisation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1508760" y="3465576"/>
            <a:ext cx="28529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20" dirty="0">
                <a:solidFill>
                  <a:srgbClr val="5B7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unitaires &amp; d'intégration, observabilité, documentation et vidéo de démonstration.</a:t>
            </a:r>
            <a:endParaRPr lang="en-US" sz="1020" dirty="0"/>
          </a:p>
        </p:txBody>
      </p:sp>
      <p:sp>
        <p:nvSpPr>
          <p:cNvPr id="19" name="Shape 14"/>
          <p:cNvSpPr/>
          <p:nvPr/>
        </p:nvSpPr>
        <p:spPr>
          <a:xfrm>
            <a:off x="4709160" y="2971800"/>
            <a:ext cx="3931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C343D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0" name="Shape 15"/>
          <p:cNvSpPr/>
          <p:nvPr/>
        </p:nvSpPr>
        <p:spPr>
          <a:xfrm>
            <a:off x="4910328" y="3209544"/>
            <a:ext cx="585216" cy="585216"/>
          </a:xfrm>
          <a:prstGeom prst="ellipse">
            <a:avLst/>
          </a:prstGeom>
          <a:solidFill>
            <a:srgbClr val="D9EAD3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47488" y="3346704"/>
            <a:ext cx="310896" cy="31089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5669280" y="315468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C34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Passage à l'échelle</a:t>
            </a:r>
            <a:endParaRPr lang="en-US" sz="1450" dirty="0"/>
          </a:p>
        </p:txBody>
      </p:sp>
      <p:sp>
        <p:nvSpPr>
          <p:cNvPr id="23" name="Text 17"/>
          <p:cNvSpPr/>
          <p:nvPr/>
        </p:nvSpPr>
        <p:spPr>
          <a:xfrm>
            <a:off x="5669280" y="3465576"/>
            <a:ext cx="28529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20" dirty="0">
                <a:solidFill>
                  <a:srgbClr val="5B7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scalable avec Spark / Kafka pour le temps réel et de plus gros volumes.</a:t>
            </a:r>
            <a:endParaRPr lang="en-US" sz="1020" dirty="0"/>
          </a:p>
        </p:txBody>
      </p:sp>
      <p:sp>
        <p:nvSpPr>
          <p:cNvPr id="24" name="Text 18"/>
          <p:cNvSpPr/>
          <p:nvPr/>
        </p:nvSpPr>
        <p:spPr>
          <a:xfrm>
            <a:off x="8321040" y="47365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548640" y="47365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Thumalien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C34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2468880"/>
            <a:ext cx="3840480" cy="3840480"/>
          </a:xfrm>
          <a:prstGeom prst="ellipse">
            <a:avLst/>
          </a:prstGeom>
          <a:solidFill>
            <a:srgbClr val="134F5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-1005840" y="-1188720"/>
            <a:ext cx="2926080" cy="2926080"/>
          </a:xfrm>
          <a:prstGeom prst="ellipse">
            <a:avLst/>
          </a:prstGeom>
          <a:solidFill>
            <a:srgbClr val="134F5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Merci de votre attention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58368" y="23774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D9EA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questions 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58368" y="3063240"/>
            <a:ext cx="164592" cy="164592"/>
          </a:xfrm>
          <a:prstGeom prst="ellipse">
            <a:avLst/>
          </a:prstGeom>
          <a:solidFill>
            <a:srgbClr val="D9EAD3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Shape 5"/>
          <p:cNvSpPr/>
          <p:nvPr/>
        </p:nvSpPr>
        <p:spPr>
          <a:xfrm>
            <a:off x="969264" y="3063240"/>
            <a:ext cx="164592" cy="164592"/>
          </a:xfrm>
          <a:prstGeom prst="ellipse">
            <a:avLst/>
          </a:prstGeom>
          <a:solidFill>
            <a:srgbClr val="76A5A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" name="Shape 6"/>
          <p:cNvSpPr/>
          <p:nvPr/>
        </p:nvSpPr>
        <p:spPr>
          <a:xfrm>
            <a:off x="1280160" y="3063240"/>
            <a:ext cx="164592" cy="164592"/>
          </a:xfrm>
          <a:prstGeom prst="ellipse">
            <a:avLst/>
          </a:prstGeom>
          <a:solidFill>
            <a:srgbClr val="45818E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520440"/>
            <a:ext cx="274320" cy="27432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024128" y="3502152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76A5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github.com/Atixu/Projet_Etude_M1_SDV</a:t>
            </a:r>
            <a:endParaRPr lang="en-US" sz="125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977640"/>
            <a:ext cx="274320" cy="2743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024128" y="395935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Guillaume REAULT  &amp;  William BELLON  —  M1 Big Data &amp; IA · SDV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1205</Words>
  <Application>Microsoft Office PowerPoint</Application>
  <PresentationFormat>Affichage à l'écran (16:9)</PresentationFormat>
  <Paragraphs>273</Paragraphs>
  <Slides>16</Slides>
  <Notes>15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Projet Thumalien – Détection de fake news sur Bluesky</dc:title>
  <dc:subject>PptxGenJS Presentation</dc:subject>
  <dc:creator>Guillaume REAULT &amp; William BELLON</dc:creator>
  <cp:lastModifiedBy>William BELLON</cp:lastModifiedBy>
  <cp:revision>2</cp:revision>
  <dcterms:created xsi:type="dcterms:W3CDTF">2026-06-23T13:42:15Z</dcterms:created>
  <dcterms:modified xsi:type="dcterms:W3CDTF">2026-06-25T07:25:33Z</dcterms:modified>
</cp:coreProperties>
</file>