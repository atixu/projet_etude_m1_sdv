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23"/>
    <p:sldId id="265" r:id="rId11"/>
    <p:sldId id="266" r:id="rId12"/>
    <p:sldId id="267" r:id="rId13"/>
    <p:sldId id="273" r:id="rId24"/>
    <p:sldId id="268" r:id="rId14"/>
    <p:sldId id="271" r:id="rId15"/>
    <p:sldId id="269" r:id="rId16"/>
    <p:sldId id="270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8" d="100"/>
          <a:sy n="128" d="100"/>
        </p:scale>
        <p:origin x="154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0.xml"/><Relationship Id="rId24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Classes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15D4C"/>
              </a:solidFill>
              <a:ln w="25400" cap="flat">
                <a:solidFill>
                  <a:srgbClr val="F3F7F8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3CB8-42C1-B6CB-1E755D849AB7}"/>
              </c:ext>
            </c:extLst>
          </c:dPt>
          <c:dPt>
            <c:idx val="1"/>
            <c:bubble3D val="0"/>
            <c:spPr>
              <a:solidFill>
                <a:srgbClr val="5FAE8C"/>
              </a:solidFill>
              <a:ln w="25400" cap="flat">
                <a:solidFill>
                  <a:srgbClr val="F3F7F8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3CB8-42C1-B6CB-1E755D849AB7}"/>
              </c:ext>
            </c:extLst>
          </c:dPt>
          <c:cat>
            <c:strRef>
              <c:f>Sheet1!$A$2:$A$3</c:f>
              <c:strCache>
                <c:ptCount val="2"/>
                <c:pt idx="0">
                  <c:v>Suspects (fake)</c:v>
                </c:pt>
                <c:pt idx="1">
                  <c:v>Fiables (real)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4476</c:v>
                </c:pt>
                <c:pt idx="1">
                  <c:v>142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CB8-42C1-B6CB-1E755D849A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B7B82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Posts</c:v>
                </c:pt>
              </c:strCache>
            </c:strRef>
          </c:tx>
          <c:spPr>
            <a:solidFill>
              <a:srgbClr val="5FAE8C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3E86-45A5-96CF-C6F32EAB8359}"/>
              </c:ext>
            </c:extLst>
          </c:dPt>
          <c:dPt>
            <c:idx val="1"/>
            <c:invertIfNegative val="0"/>
            <c:bubble3D val="0"/>
            <c:spPr>
              <a:solidFill>
                <a:srgbClr val="76A5A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3E86-45A5-96CF-C6F32EAB8359}"/>
              </c:ext>
            </c:extLst>
          </c:dPt>
          <c:dPt>
            <c:idx val="2"/>
            <c:invertIfNegative val="0"/>
            <c:bubble3D val="0"/>
            <c:spPr>
              <a:solidFill>
                <a:srgbClr val="E15D4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3E86-45A5-96CF-C6F32EAB8359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C343D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Positif</c:v>
                </c:pt>
                <c:pt idx="1">
                  <c:v>Neutre</c:v>
                </c:pt>
                <c:pt idx="2">
                  <c:v>Négatif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1439</c:v>
                </c:pt>
                <c:pt idx="1">
                  <c:v>1233</c:v>
                </c:pt>
                <c:pt idx="2">
                  <c:v>1946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E86-45A5-96CF-C6F32EAB835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7B8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55010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Bonjour, nous sommes Guillaume Reault et William Bellon. Nous présentons Thumalien, notre projet de détection de fake news sur le réseau social Bluesky, combinant NLP, analyse émotionnelle et un dashboard interactif.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8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34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1280160"/>
            <a:ext cx="3840480" cy="384048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8138160" y="2377440"/>
            <a:ext cx="2560320" cy="2560320"/>
          </a:xfrm>
          <a:prstGeom prst="ellipse">
            <a:avLst/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-822960" y="3383280"/>
            <a:ext cx="2377440" cy="237744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502920"/>
            <a:ext cx="841248" cy="841248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694944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71323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D'ÉTUDES · M1 BIG DATA &amp; IA · SDV 2025-2026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73736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5800" dirty="0"/>
          </a:p>
        </p:txBody>
      </p:sp>
      <p:sp>
        <p:nvSpPr>
          <p:cNvPr id="9" name="Text 6"/>
          <p:cNvSpPr/>
          <p:nvPr/>
        </p:nvSpPr>
        <p:spPr>
          <a:xfrm>
            <a:off x="566928" y="260604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de fake news sur Bluesky</a:t>
            </a:r>
            <a:endParaRPr lang="en-US" sz="2300" dirty="0"/>
          </a:p>
        </p:txBody>
      </p:sp>
      <p:sp>
        <p:nvSpPr>
          <p:cNvPr id="10" name="Text 7"/>
          <p:cNvSpPr/>
          <p:nvPr/>
        </p:nvSpPr>
        <p:spPr>
          <a:xfrm>
            <a:off x="566928" y="31546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NLP · score de crédibilité · analyse émotionnelle · dashboard interactif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3886200"/>
            <a:ext cx="164592" cy="164592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877824" y="3886200"/>
            <a:ext cx="164592" cy="164592"/>
          </a:xfrm>
          <a:prstGeom prst="ellipse">
            <a:avLst/>
          </a:prstGeom>
          <a:solidFill>
            <a:srgbClr val="76A5A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Shape 10"/>
          <p:cNvSpPr/>
          <p:nvPr/>
        </p:nvSpPr>
        <p:spPr>
          <a:xfrm>
            <a:off x="1188720" y="3886200"/>
            <a:ext cx="164592" cy="164592"/>
          </a:xfrm>
          <a:prstGeom prst="ellipse">
            <a:avLst/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66928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Guillaume REAULT</a:t>
            </a:r>
            <a:r>
              <a:rPr lang="en-US" sz="15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&amp; 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 BELLON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66928" y="44988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 du 26 juin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LA PRÉSENTATION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93192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658368" y="1527048"/>
            <a:ext cx="777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463040" y="156362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objectifs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463040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Problématique des fake news et buts du projet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417320"/>
            <a:ext cx="393192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818888" y="1527048"/>
            <a:ext cx="777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623560" y="156362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méthodologie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623560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technique et démarche Agile / Scrum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468880"/>
            <a:ext cx="393192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658368" y="2578608"/>
            <a:ext cx="777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463040" y="261518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projet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463040" y="2926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Gantt, Kanban et phases de développement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468880"/>
            <a:ext cx="393192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818888" y="2578608"/>
            <a:ext cx="777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5623560" y="261518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Travaux réalisés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623560" y="2926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Collecte, NLP, classification, émotions, score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520440"/>
            <a:ext cx="393192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658368" y="3630168"/>
            <a:ext cx="777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463040" y="366674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&amp; dashboard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463040" y="3977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obtenus et démonstration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09160" y="3520440"/>
            <a:ext cx="393192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4818888" y="3630168"/>
            <a:ext cx="777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5623560" y="366674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5623560" y="3977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et passage à l'échelle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détecter les fake news 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réseaux sociaux accélèrent la diffusion de l'information — mais aussi la propagation de la désinformation, plus rapide que les démentis.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93192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749808" y="2240280"/>
            <a:ext cx="603504" cy="603504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2377440"/>
            <a:ext cx="329184" cy="3291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16712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ingérable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508760" y="247802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 de contenus pour une modération 100 % humaine.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709160" y="1965960"/>
            <a:ext cx="393192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4910328" y="2240280"/>
            <a:ext cx="603504" cy="603504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2377440"/>
            <a:ext cx="329184" cy="3291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669280" y="216712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Propagation rapide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5669280" y="247802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fausses informations circulent plus vite que les corrections.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48640" y="3291840"/>
            <a:ext cx="393192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2"/>
          <p:cNvSpPr/>
          <p:nvPr/>
        </p:nvSpPr>
        <p:spPr>
          <a:xfrm>
            <a:off x="749808" y="3566160"/>
            <a:ext cx="603504" cy="603504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3703320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08760" y="349300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 centrés EN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1508760" y="380390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 de solutions traitent correctement le français.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709160" y="3291840"/>
            <a:ext cx="393192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6"/>
          <p:cNvSpPr/>
          <p:nvPr/>
        </p:nvSpPr>
        <p:spPr>
          <a:xfrm>
            <a:off x="4910328" y="3566160"/>
            <a:ext cx="603504" cy="603504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7488" y="3703320"/>
            <a:ext cx="329184" cy="32918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669280" y="349300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Angles oubliés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5669280" y="380390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émotionnel et coût énergétique rarement mesurés.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vise Thumalien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874520" cy="269748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1152144" y="1828800"/>
            <a:ext cx="676656" cy="676656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16736" y="1993392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633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13232" y="3035808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pipeline NLP qui classe les posts Bluesky en fake / real (FR &amp; EN).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83180" y="1554480"/>
            <a:ext cx="1874520" cy="269748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3186684" y="1828800"/>
            <a:ext cx="676656" cy="676656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351276" y="1993392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674620" y="2633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Indiquer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2747772" y="3035808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indicateurs clairs : score de crédibilité et tonalité émotionnelle.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617720" y="1554480"/>
            <a:ext cx="1874520" cy="269748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5221224" y="1828800"/>
            <a:ext cx="676656" cy="676656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385816" y="1993392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709160" y="2633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Expliquer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4782312" y="3035808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transparence : justification lisible de chaque décision.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652260" y="1554480"/>
            <a:ext cx="1874520" cy="269748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5"/>
          <p:cNvSpPr/>
          <p:nvPr/>
        </p:nvSpPr>
        <p:spPr>
          <a:xfrm>
            <a:off x="7255764" y="1828800"/>
            <a:ext cx="676656" cy="676656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420356" y="1993392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743700" y="2633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Mesurer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6816852" y="3035808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démarche Green IT : suivi de la consommation énergétique.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collecte au dashboard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1024128" cy="1371600"/>
          </a:xfrm>
          <a:prstGeom prst="roundRect">
            <a:avLst>
              <a:gd name="adj" fmla="val 7143"/>
            </a:avLst>
          </a:prstGeom>
          <a:solidFill>
            <a:srgbClr val="45818E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7240" y="1874520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231343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11480" y="258775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Bluesky API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1487424" y="2377440"/>
            <a:ext cx="164592" cy="0"/>
          </a:xfrm>
          <a:prstGeom prst="line">
            <a:avLst/>
          </a:prstGeom>
          <a:noFill/>
          <a:ln w="25400">
            <a:solidFill>
              <a:srgbClr val="76A5AF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1658112" y="1691640"/>
            <a:ext cx="1024128" cy="1371600"/>
          </a:xfrm>
          <a:prstGeom prst="roundRect">
            <a:avLst>
              <a:gd name="adj" fmla="val 7143"/>
            </a:avLst>
          </a:prstGeom>
          <a:solidFill>
            <a:srgbClr val="134F5C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978152" y="1874520"/>
            <a:ext cx="384048" cy="3840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12392" y="231343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1612392" y="258775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raw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2688336" y="2377440"/>
            <a:ext cx="164592" cy="0"/>
          </a:xfrm>
          <a:prstGeom prst="line">
            <a:avLst/>
          </a:prstGeom>
          <a:noFill/>
          <a:ln w="25400">
            <a:solidFill>
              <a:srgbClr val="76A5AF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0"/>
          <p:cNvSpPr/>
          <p:nvPr/>
        </p:nvSpPr>
        <p:spPr>
          <a:xfrm>
            <a:off x="2859024" y="1691640"/>
            <a:ext cx="1024128" cy="1371600"/>
          </a:xfrm>
          <a:prstGeom prst="roundRect">
            <a:avLst>
              <a:gd name="adj" fmla="val 7143"/>
            </a:avLst>
          </a:prstGeom>
          <a:solidFill>
            <a:srgbClr val="45818E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179064" y="1874520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813304" y="231343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2813304" y="258775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Kedro NLP (7 nodes)</a:t>
            </a:r>
            <a:endParaRPr lang="en-US" sz="800" dirty="0"/>
          </a:p>
        </p:txBody>
      </p:sp>
      <p:sp>
        <p:nvSpPr>
          <p:cNvPr id="18" name="Shape 13"/>
          <p:cNvSpPr/>
          <p:nvPr/>
        </p:nvSpPr>
        <p:spPr>
          <a:xfrm>
            <a:off x="3889248" y="2377440"/>
            <a:ext cx="164592" cy="0"/>
          </a:xfrm>
          <a:prstGeom prst="line">
            <a:avLst/>
          </a:prstGeom>
          <a:noFill/>
          <a:ln w="25400">
            <a:solidFill>
              <a:srgbClr val="76A5AF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4"/>
          <p:cNvSpPr/>
          <p:nvPr/>
        </p:nvSpPr>
        <p:spPr>
          <a:xfrm>
            <a:off x="4059936" y="1691640"/>
            <a:ext cx="1024128" cy="1371600"/>
          </a:xfrm>
          <a:prstGeom prst="roundRect">
            <a:avLst>
              <a:gd name="adj" fmla="val 7143"/>
            </a:avLst>
          </a:prstGeom>
          <a:solidFill>
            <a:srgbClr val="134F5C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379976" y="1874520"/>
            <a:ext cx="384048" cy="38404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014216" y="231343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→ Classif.</a:t>
            </a:r>
            <a:endParaRPr lang="en-US" sz="1050" dirty="0"/>
          </a:p>
        </p:txBody>
      </p:sp>
      <p:sp>
        <p:nvSpPr>
          <p:cNvPr id="22" name="Text 16"/>
          <p:cNvSpPr/>
          <p:nvPr/>
        </p:nvSpPr>
        <p:spPr>
          <a:xfrm>
            <a:off x="4014216" y="258775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LogReg</a:t>
            </a:r>
            <a:endParaRPr lang="en-US" sz="800" dirty="0"/>
          </a:p>
        </p:txBody>
      </p:sp>
      <p:sp>
        <p:nvSpPr>
          <p:cNvPr id="23" name="Shape 17"/>
          <p:cNvSpPr/>
          <p:nvPr/>
        </p:nvSpPr>
        <p:spPr>
          <a:xfrm>
            <a:off x="5090160" y="2377440"/>
            <a:ext cx="164592" cy="0"/>
          </a:xfrm>
          <a:prstGeom prst="line">
            <a:avLst/>
          </a:prstGeom>
          <a:noFill/>
          <a:ln w="25400">
            <a:solidFill>
              <a:srgbClr val="76A5AF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24" name="Shape 18"/>
          <p:cNvSpPr/>
          <p:nvPr/>
        </p:nvSpPr>
        <p:spPr>
          <a:xfrm>
            <a:off x="5260848" y="1691640"/>
            <a:ext cx="1024128" cy="1371600"/>
          </a:xfrm>
          <a:prstGeom prst="roundRect">
            <a:avLst>
              <a:gd name="adj" fmla="val 7143"/>
            </a:avLst>
          </a:prstGeom>
          <a:solidFill>
            <a:srgbClr val="45818E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580888" y="1874520"/>
            <a:ext cx="384048" cy="38404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5215128" y="231343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Émotions</a:t>
            </a:r>
            <a:endParaRPr lang="en-US" sz="1050" dirty="0"/>
          </a:p>
        </p:txBody>
      </p:sp>
      <p:sp>
        <p:nvSpPr>
          <p:cNvPr id="27" name="Text 20"/>
          <p:cNvSpPr/>
          <p:nvPr/>
        </p:nvSpPr>
        <p:spPr>
          <a:xfrm>
            <a:off x="5215128" y="258775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VADER + lexique</a:t>
            </a:r>
            <a:endParaRPr lang="en-US" sz="800" dirty="0"/>
          </a:p>
        </p:txBody>
      </p:sp>
      <p:sp>
        <p:nvSpPr>
          <p:cNvPr id="28" name="Shape 21"/>
          <p:cNvSpPr/>
          <p:nvPr/>
        </p:nvSpPr>
        <p:spPr>
          <a:xfrm>
            <a:off x="6291072" y="2377440"/>
            <a:ext cx="164592" cy="0"/>
          </a:xfrm>
          <a:prstGeom prst="line">
            <a:avLst/>
          </a:prstGeom>
          <a:noFill/>
          <a:ln w="25400">
            <a:solidFill>
              <a:srgbClr val="76A5AF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29" name="Shape 22"/>
          <p:cNvSpPr/>
          <p:nvPr/>
        </p:nvSpPr>
        <p:spPr>
          <a:xfrm>
            <a:off x="6461760" y="1691640"/>
            <a:ext cx="1024128" cy="1371600"/>
          </a:xfrm>
          <a:prstGeom prst="roundRect">
            <a:avLst>
              <a:gd name="adj" fmla="val 7143"/>
            </a:avLst>
          </a:prstGeom>
          <a:solidFill>
            <a:srgbClr val="134F5C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781800" y="1874520"/>
            <a:ext cx="384048" cy="384048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416040" y="231343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final</a:t>
            </a:r>
            <a:endParaRPr lang="en-US" sz="1050" dirty="0"/>
          </a:p>
        </p:txBody>
      </p:sp>
      <p:sp>
        <p:nvSpPr>
          <p:cNvPr id="32" name="Text 24"/>
          <p:cNvSpPr/>
          <p:nvPr/>
        </p:nvSpPr>
        <p:spPr>
          <a:xfrm>
            <a:off x="6416040" y="258775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explicabilité</a:t>
            </a:r>
            <a:endParaRPr lang="en-US" sz="800" dirty="0"/>
          </a:p>
        </p:txBody>
      </p:sp>
      <p:sp>
        <p:nvSpPr>
          <p:cNvPr id="33" name="Shape 25"/>
          <p:cNvSpPr/>
          <p:nvPr/>
        </p:nvSpPr>
        <p:spPr>
          <a:xfrm>
            <a:off x="7491984" y="2377440"/>
            <a:ext cx="164592" cy="0"/>
          </a:xfrm>
          <a:prstGeom prst="line">
            <a:avLst/>
          </a:prstGeom>
          <a:noFill/>
          <a:ln w="25400">
            <a:solidFill>
              <a:srgbClr val="76A5AF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34" name="Shape 26"/>
          <p:cNvSpPr/>
          <p:nvPr/>
        </p:nvSpPr>
        <p:spPr>
          <a:xfrm>
            <a:off x="7662672" y="1691640"/>
            <a:ext cx="1024128" cy="1371600"/>
          </a:xfrm>
          <a:prstGeom prst="roundRect">
            <a:avLst>
              <a:gd name="adj" fmla="val 7143"/>
            </a:avLst>
          </a:prstGeom>
          <a:solidFill>
            <a:srgbClr val="0C343D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7982712" y="1874520"/>
            <a:ext cx="384048" cy="384048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7616952" y="231343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50" dirty="0"/>
          </a:p>
        </p:txBody>
      </p:sp>
      <p:sp>
        <p:nvSpPr>
          <p:cNvPr id="37" name="Text 28"/>
          <p:cNvSpPr/>
          <p:nvPr/>
        </p:nvSpPr>
        <p:spPr>
          <a:xfrm>
            <a:off x="7616952" y="258775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800" dirty="0"/>
          </a:p>
        </p:txBody>
      </p:sp>
      <p:sp>
        <p:nvSpPr>
          <p:cNvPr id="38" name="Text 29"/>
          <p:cNvSpPr/>
          <p:nvPr/>
        </p:nvSpPr>
        <p:spPr>
          <a:xfrm>
            <a:off x="548640" y="3429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TECHNIQUE</a:t>
            </a:r>
            <a:endParaRPr lang="en-US" sz="1100" dirty="0"/>
          </a:p>
        </p:txBody>
      </p:sp>
      <p:sp>
        <p:nvSpPr>
          <p:cNvPr id="39" name="Shape 30"/>
          <p:cNvSpPr/>
          <p:nvPr/>
        </p:nvSpPr>
        <p:spPr>
          <a:xfrm>
            <a:off x="548640" y="3767328"/>
            <a:ext cx="1080821" cy="347472"/>
          </a:xfrm>
          <a:prstGeom prst="roundRect">
            <a:avLst>
              <a:gd name="adj" fmla="val 50000"/>
            </a:avLst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0" name="Text 31"/>
          <p:cNvSpPr/>
          <p:nvPr/>
        </p:nvSpPr>
        <p:spPr>
          <a:xfrm>
            <a:off x="548640" y="3767328"/>
            <a:ext cx="10808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</a:t>
            </a:r>
            <a:endParaRPr lang="en-US" sz="1050" dirty="0"/>
          </a:p>
        </p:txBody>
      </p:sp>
      <p:sp>
        <p:nvSpPr>
          <p:cNvPr id="41" name="Shape 32"/>
          <p:cNvSpPr/>
          <p:nvPr/>
        </p:nvSpPr>
        <p:spPr>
          <a:xfrm>
            <a:off x="1775765" y="3767328"/>
            <a:ext cx="1605686" cy="347472"/>
          </a:xfrm>
          <a:prstGeom prst="roundRect">
            <a:avLst>
              <a:gd name="adj" fmla="val 50000"/>
            </a:avLst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2" name="Text 33"/>
          <p:cNvSpPr/>
          <p:nvPr/>
        </p:nvSpPr>
        <p:spPr>
          <a:xfrm>
            <a:off x="1775765" y="3767328"/>
            <a:ext cx="16056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7 / Docker</a:t>
            </a:r>
            <a:endParaRPr lang="en-US" sz="1050" dirty="0"/>
          </a:p>
        </p:txBody>
      </p:sp>
      <p:sp>
        <p:nvSpPr>
          <p:cNvPr id="43" name="Shape 34"/>
          <p:cNvSpPr/>
          <p:nvPr/>
        </p:nvSpPr>
        <p:spPr>
          <a:xfrm>
            <a:off x="3527755" y="3767328"/>
            <a:ext cx="1155802" cy="347472"/>
          </a:xfrm>
          <a:prstGeom prst="roundRect">
            <a:avLst>
              <a:gd name="adj" fmla="val 50000"/>
            </a:avLst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4" name="Text 35"/>
          <p:cNvSpPr/>
          <p:nvPr/>
        </p:nvSpPr>
        <p:spPr>
          <a:xfrm>
            <a:off x="3527755" y="3767328"/>
            <a:ext cx="11558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050" dirty="0"/>
          </a:p>
        </p:txBody>
      </p:sp>
      <p:sp>
        <p:nvSpPr>
          <p:cNvPr id="45" name="Shape 36"/>
          <p:cNvSpPr/>
          <p:nvPr/>
        </p:nvSpPr>
        <p:spPr>
          <a:xfrm>
            <a:off x="4829861" y="3767328"/>
            <a:ext cx="1305763" cy="347472"/>
          </a:xfrm>
          <a:prstGeom prst="roundRect">
            <a:avLst>
              <a:gd name="adj" fmla="val 50000"/>
            </a:avLst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6" name="Text 37"/>
          <p:cNvSpPr/>
          <p:nvPr/>
        </p:nvSpPr>
        <p:spPr>
          <a:xfrm>
            <a:off x="4829861" y="3767328"/>
            <a:ext cx="130576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vaderSentiment</a:t>
            </a:r>
            <a:endParaRPr lang="en-US" sz="1050" dirty="0"/>
          </a:p>
        </p:txBody>
      </p:sp>
      <p:sp>
        <p:nvSpPr>
          <p:cNvPr id="47" name="Shape 38"/>
          <p:cNvSpPr/>
          <p:nvPr/>
        </p:nvSpPr>
        <p:spPr>
          <a:xfrm>
            <a:off x="6281928" y="3767328"/>
            <a:ext cx="1605686" cy="347472"/>
          </a:xfrm>
          <a:prstGeom prst="roundRect">
            <a:avLst>
              <a:gd name="adj" fmla="val 50000"/>
            </a:avLst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8" name="Text 39"/>
          <p:cNvSpPr/>
          <p:nvPr/>
        </p:nvSpPr>
        <p:spPr>
          <a:xfrm>
            <a:off x="6281928" y="3767328"/>
            <a:ext cx="16056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+ Plotly</a:t>
            </a:r>
            <a:endParaRPr lang="en-US" sz="1050" dirty="0"/>
          </a:p>
        </p:txBody>
      </p:sp>
      <p:sp>
        <p:nvSpPr>
          <p:cNvPr id="49" name="Shape 40"/>
          <p:cNvSpPr/>
          <p:nvPr/>
        </p:nvSpPr>
        <p:spPr>
          <a:xfrm>
            <a:off x="548640" y="4224528"/>
            <a:ext cx="1755648" cy="347472"/>
          </a:xfrm>
          <a:prstGeom prst="roundRect">
            <a:avLst>
              <a:gd name="adj" fmla="val 50000"/>
            </a:avLst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0" name="Text 41"/>
          <p:cNvSpPr/>
          <p:nvPr/>
        </p:nvSpPr>
        <p:spPr>
          <a:xfrm>
            <a:off x="548640" y="4224528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datasets</a:t>
            </a:r>
            <a:endParaRPr lang="en-US" sz="1050" dirty="0"/>
          </a:p>
        </p:txBody>
      </p:sp>
      <p:sp>
        <p:nvSpPr>
          <p:cNvPr id="51" name="Shape 42"/>
          <p:cNvSpPr/>
          <p:nvPr/>
        </p:nvSpPr>
        <p:spPr>
          <a:xfrm>
            <a:off x="2450592" y="4224528"/>
            <a:ext cx="1455725" cy="347472"/>
          </a:xfrm>
          <a:prstGeom prst="roundRect">
            <a:avLst>
              <a:gd name="adj" fmla="val 50000"/>
            </a:avLst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2" name="Text 43"/>
          <p:cNvSpPr/>
          <p:nvPr/>
        </p:nvSpPr>
        <p:spPr>
          <a:xfrm>
            <a:off x="2450592" y="4224528"/>
            <a:ext cx="145572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CI/CD</a:t>
            </a:r>
            <a:endParaRPr lang="en-US" sz="1050" dirty="0"/>
          </a:p>
        </p:txBody>
      </p:sp>
      <p:sp>
        <p:nvSpPr>
          <p:cNvPr id="53" name="Shape 44"/>
          <p:cNvSpPr/>
          <p:nvPr/>
        </p:nvSpPr>
        <p:spPr>
          <a:xfrm>
            <a:off x="4052621" y="4224528"/>
            <a:ext cx="780898" cy="347472"/>
          </a:xfrm>
          <a:prstGeom prst="roundRect">
            <a:avLst>
              <a:gd name="adj" fmla="val 50000"/>
            </a:avLst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4" name="Text 45"/>
          <p:cNvSpPr/>
          <p:nvPr/>
        </p:nvSpPr>
        <p:spPr>
          <a:xfrm>
            <a:off x="4052621" y="4224528"/>
            <a:ext cx="7808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Kedro 1.2 + Airflow</a:t>
            </a:r>
            <a:endParaRPr lang="en-US" sz="1050" dirty="0"/>
          </a:p>
        </p:txBody>
      </p:sp>
      <p:sp>
        <p:nvSpPr>
          <p:cNvPr id="55" name="Text 46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56" name="Text 47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MÉTHODOLOGIE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démarche Agile / Scrum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4572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713232" y="1682496"/>
            <a:ext cx="493776" cy="493776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9222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6093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sprints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371600" y="1901952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projet découpé en 8 parties livrées sur 6 sprints itératifs.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48640" y="2496312"/>
            <a:ext cx="4572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713232" y="2715768"/>
            <a:ext cx="493776" cy="493776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825496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71600" y="264261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Rôles partagés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371600" y="2935224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 (collecte/ETL) &amp; Data Scientist (NLP/modèles).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48640" y="3529584"/>
            <a:ext cx="4572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713232" y="3749040"/>
            <a:ext cx="493776" cy="493776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858768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36758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par partie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1371600" y="3968496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lot : scope → implémentation → tests → compte-rendu.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40680" y="1463040"/>
            <a:ext cx="3154680" cy="3099816"/>
          </a:xfrm>
          <a:prstGeom prst="roundRect">
            <a:avLst>
              <a:gd name="adj" fmla="val 2360"/>
            </a:avLst>
          </a:prstGeom>
          <a:solidFill>
            <a:srgbClr val="0C343D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5"/>
          <p:cNvSpPr/>
          <p:nvPr/>
        </p:nvSpPr>
        <p:spPr>
          <a:xfrm>
            <a:off x="5669280" y="16642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cycle de sprint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5669280" y="2167128"/>
            <a:ext cx="256032" cy="256032"/>
          </a:xfrm>
          <a:prstGeom prst="ellipse">
            <a:avLst/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17"/>
          <p:cNvSpPr/>
          <p:nvPr/>
        </p:nvSpPr>
        <p:spPr>
          <a:xfrm>
            <a:off x="5669280" y="21671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6035040" y="211226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Planning — cadrage du lot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5669280" y="2734056"/>
            <a:ext cx="256032" cy="256032"/>
          </a:xfrm>
          <a:prstGeom prst="ellipse">
            <a:avLst/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0"/>
          <p:cNvSpPr/>
          <p:nvPr/>
        </p:nvSpPr>
        <p:spPr>
          <a:xfrm>
            <a:off x="5669280" y="27340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6035040" y="267919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 &amp; revue de code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5669280" y="3300984"/>
            <a:ext cx="256032" cy="256032"/>
          </a:xfrm>
          <a:prstGeom prst="ellipse">
            <a:avLst/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3"/>
          <p:cNvSpPr/>
          <p:nvPr/>
        </p:nvSpPr>
        <p:spPr>
          <a:xfrm>
            <a:off x="5669280" y="3300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6035040" y="3246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/ validation des livrables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5669280" y="3867912"/>
            <a:ext cx="256032" cy="256032"/>
          </a:xfrm>
          <a:prstGeom prst="ellipse">
            <a:avLst/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Text 26"/>
          <p:cNvSpPr/>
          <p:nvPr/>
        </p:nvSpPr>
        <p:spPr>
          <a:xfrm>
            <a:off x="5669280" y="3867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Text 27"/>
          <p:cNvSpPr/>
          <p:nvPr/>
        </p:nvSpPr>
        <p:spPr>
          <a:xfrm>
            <a:off x="6035040" y="38130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compte-rendu (fait · reste · risques)</a:t>
            </a:r>
            <a:endParaRPr lang="en-US" sz="1050" dirty="0"/>
          </a:p>
        </p:txBody>
      </p:sp>
      <p:sp>
        <p:nvSpPr>
          <p:cNvPr id="33" name="Text 28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PROJET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Diagramme de Gantt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2788920" y="1124712"/>
            <a:ext cx="9677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2788920" y="1417320"/>
            <a:ext cx="0" cy="3086100"/>
          </a:xfrm>
          <a:prstGeom prst="line">
            <a:avLst/>
          </a:prstGeom>
          <a:noFill/>
          <a:ln w="9525">
            <a:solidFill>
              <a:srgbClr val="DCE7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3756660" y="1124712"/>
            <a:ext cx="9677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756660" y="1417320"/>
            <a:ext cx="0" cy="3086100"/>
          </a:xfrm>
          <a:prstGeom prst="line">
            <a:avLst/>
          </a:prstGeom>
          <a:noFill/>
          <a:ln w="9525">
            <a:solidFill>
              <a:srgbClr val="DCE7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724400" y="1124712"/>
            <a:ext cx="9677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24400" y="1417320"/>
            <a:ext cx="0" cy="3086100"/>
          </a:xfrm>
          <a:prstGeom prst="line">
            <a:avLst/>
          </a:prstGeom>
          <a:noFill/>
          <a:ln w="9525">
            <a:solidFill>
              <a:srgbClr val="DCE7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5692140" y="1124712"/>
            <a:ext cx="9677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92140" y="1417320"/>
            <a:ext cx="0" cy="3086100"/>
          </a:xfrm>
          <a:prstGeom prst="line">
            <a:avLst/>
          </a:prstGeom>
          <a:noFill/>
          <a:ln w="9525">
            <a:solidFill>
              <a:srgbClr val="DCE7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6659880" y="1124712"/>
            <a:ext cx="9677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659880" y="1417320"/>
            <a:ext cx="0" cy="3086100"/>
          </a:xfrm>
          <a:prstGeom prst="line">
            <a:avLst/>
          </a:prstGeom>
          <a:noFill/>
          <a:ln w="9525">
            <a:solidFill>
              <a:srgbClr val="DCE7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7627620" y="1124712"/>
            <a:ext cx="9677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7620" y="1417320"/>
            <a:ext cx="0" cy="3086100"/>
          </a:xfrm>
          <a:prstGeom prst="line">
            <a:avLst/>
          </a:prstGeom>
          <a:noFill/>
          <a:ln w="9525">
            <a:solidFill>
              <a:srgbClr val="DCE7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8595360" y="1417320"/>
            <a:ext cx="0" cy="3086100"/>
          </a:xfrm>
          <a:prstGeom prst="line">
            <a:avLst/>
          </a:prstGeom>
          <a:noFill/>
          <a:ln w="9525">
            <a:solidFill>
              <a:srgbClr val="DCE7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548640" y="1417320"/>
            <a:ext cx="8046720" cy="342900"/>
          </a:xfrm>
          <a:prstGeom prst="rect">
            <a:avLst/>
          </a:prstGeom>
          <a:solidFill>
            <a:srgbClr val="EAF1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566928" y="1417320"/>
            <a:ext cx="21488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 · Cadrage &amp; socle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834640" y="1472184"/>
            <a:ext cx="876300" cy="233172"/>
          </a:xfrm>
          <a:prstGeom prst="roundRect">
            <a:avLst>
              <a:gd name="adj" fmla="val 15686"/>
            </a:avLst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566928" y="1760220"/>
            <a:ext cx="21488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· Collecte Bluesky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834640" y="1815084"/>
            <a:ext cx="876300" cy="233172"/>
          </a:xfrm>
          <a:prstGeom prst="roundRect">
            <a:avLst>
              <a:gd name="adj" fmla="val 15686"/>
            </a:avLst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548640" y="2103120"/>
            <a:ext cx="8046720" cy="342900"/>
          </a:xfrm>
          <a:prstGeom prst="rect">
            <a:avLst/>
          </a:prstGeom>
          <a:solidFill>
            <a:srgbClr val="EAF1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566928" y="2103120"/>
            <a:ext cx="21488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· Prétraitement NLP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802380" y="2157984"/>
            <a:ext cx="876300" cy="233172"/>
          </a:xfrm>
          <a:prstGeom prst="roundRect">
            <a:avLst>
              <a:gd name="adj" fmla="val 15686"/>
            </a:avLst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566928" y="2446020"/>
            <a:ext cx="21488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· Baseline fake news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770120" y="2500884"/>
            <a:ext cx="876300" cy="233172"/>
          </a:xfrm>
          <a:prstGeom prst="roundRect">
            <a:avLst>
              <a:gd name="adj" fmla="val 15686"/>
            </a:avLst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548640" y="2788920"/>
            <a:ext cx="8046720" cy="342900"/>
          </a:xfrm>
          <a:prstGeom prst="rect">
            <a:avLst/>
          </a:prstGeom>
          <a:solidFill>
            <a:srgbClr val="EAF1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566928" y="2788920"/>
            <a:ext cx="21488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· Analyse émotions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737860" y="2843784"/>
            <a:ext cx="876300" cy="233172"/>
          </a:xfrm>
          <a:prstGeom prst="roundRect">
            <a:avLst>
              <a:gd name="adj" fmla="val 15686"/>
            </a:avLst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566928" y="3131820"/>
            <a:ext cx="21488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 · Score &amp; explicabilité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737860" y="3186684"/>
            <a:ext cx="876300" cy="233172"/>
          </a:xfrm>
          <a:prstGeom prst="roundRect">
            <a:avLst>
              <a:gd name="adj" fmla="val 15686"/>
            </a:avLst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2" name="Shape 30"/>
          <p:cNvSpPr/>
          <p:nvPr/>
        </p:nvSpPr>
        <p:spPr>
          <a:xfrm>
            <a:off x="548640" y="3474720"/>
            <a:ext cx="8046720" cy="342900"/>
          </a:xfrm>
          <a:prstGeom prst="rect">
            <a:avLst/>
          </a:prstGeom>
          <a:solidFill>
            <a:srgbClr val="EAF1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566928" y="3474720"/>
            <a:ext cx="21488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P6 · Dashboard MVP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705600" y="3529584"/>
            <a:ext cx="876300" cy="233172"/>
          </a:xfrm>
          <a:prstGeom prst="roundRect">
            <a:avLst>
              <a:gd name="adj" fmla="val 15686"/>
            </a:avLst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566928" y="3817620"/>
            <a:ext cx="21488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P7 · Monitoring Green IT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7673340" y="3872484"/>
            <a:ext cx="876300" cy="233172"/>
          </a:xfrm>
          <a:prstGeom prst="roundRect">
            <a:avLst>
              <a:gd name="adj" fmla="val 15686"/>
            </a:avLst>
          </a:prstGeom>
          <a:solidFill>
            <a:srgbClr val="E9A23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7" name="Shape 35"/>
          <p:cNvSpPr/>
          <p:nvPr/>
        </p:nvSpPr>
        <p:spPr>
          <a:xfrm>
            <a:off x="548640" y="4160520"/>
            <a:ext cx="8046720" cy="342900"/>
          </a:xfrm>
          <a:prstGeom prst="rect">
            <a:avLst/>
          </a:prstGeom>
          <a:solidFill>
            <a:srgbClr val="EAF1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566928" y="4160520"/>
            <a:ext cx="21488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P8 · Tests &amp; </a:t>
            </a:r>
            <a:r>
              <a:rPr lang="en-US" sz="950" dirty="0" err="1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673340" y="4215384"/>
            <a:ext cx="876300" cy="233172"/>
          </a:xfrm>
          <a:prstGeom prst="roundRect">
            <a:avLst>
              <a:gd name="adj" fmla="val 15686"/>
            </a:avLst>
          </a:prstGeom>
          <a:solidFill>
            <a:srgbClr val="E9A23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0" name="Shape 38"/>
          <p:cNvSpPr/>
          <p:nvPr/>
        </p:nvSpPr>
        <p:spPr>
          <a:xfrm>
            <a:off x="2788920" y="4572000"/>
            <a:ext cx="201168" cy="146304"/>
          </a:xfrm>
          <a:prstGeom prst="rect">
            <a:avLst/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1" name="Text 39"/>
          <p:cNvSpPr/>
          <p:nvPr/>
        </p:nvSpPr>
        <p:spPr>
          <a:xfrm>
            <a:off x="3035808" y="45171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Terminé (P0–P6)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892040" y="4572000"/>
            <a:ext cx="201168" cy="146304"/>
          </a:xfrm>
          <a:prstGeom prst="rect">
            <a:avLst/>
          </a:prstGeom>
          <a:solidFill>
            <a:srgbClr val="E9A23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3" name="Text 41"/>
          <p:cNvSpPr/>
          <p:nvPr/>
        </p:nvSpPr>
        <p:spPr>
          <a:xfrm>
            <a:off x="5138928" y="45171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cours / à venir (P7–P8)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PROJET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Kanban &amp; phases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2587752" cy="3310128"/>
          </a:xfrm>
          <a:prstGeom prst="roundRect">
            <a:avLst>
              <a:gd name="adj" fmla="val 2120"/>
            </a:avLst>
          </a:prstGeom>
          <a:solidFill>
            <a:srgbClr val="EAF1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2587752" cy="438912"/>
          </a:xfrm>
          <a:prstGeom prst="roundRect">
            <a:avLst>
              <a:gd name="adj" fmla="val 12500"/>
            </a:avLst>
          </a:prstGeom>
          <a:solidFill>
            <a:srgbClr val="5FAE8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685800" y="1325880"/>
            <a:ext cx="1764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Terminé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450592" y="1325880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67512" y="1874520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786384" y="1979676"/>
            <a:ext cx="118872" cy="118872"/>
          </a:xfrm>
          <a:prstGeom prst="ellipse">
            <a:avLst/>
          </a:prstGeom>
          <a:solidFill>
            <a:srgbClr val="5FAE8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1005840" y="1874520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 · Cadrage &amp; socle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67512" y="2272284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786384" y="2377440"/>
            <a:ext cx="118872" cy="118872"/>
          </a:xfrm>
          <a:prstGeom prst="ellipse">
            <a:avLst/>
          </a:prstGeom>
          <a:solidFill>
            <a:srgbClr val="5FAE8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1005840" y="2272284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· Collecte Bluesky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67512" y="2670048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786384" y="2775204"/>
            <a:ext cx="118872" cy="118872"/>
          </a:xfrm>
          <a:prstGeom prst="ellipse">
            <a:avLst/>
          </a:prstGeom>
          <a:solidFill>
            <a:srgbClr val="5FAE8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1005840" y="2670048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· Nettoyage NLP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67512" y="3067812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786384" y="3172968"/>
            <a:ext cx="118872" cy="118872"/>
          </a:xfrm>
          <a:prstGeom prst="ellipse">
            <a:avLst/>
          </a:prstGeom>
          <a:solidFill>
            <a:srgbClr val="5FAE8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1005840" y="3067812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· Baseline fake news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67512" y="3465576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786384" y="3570732"/>
            <a:ext cx="118872" cy="118872"/>
          </a:xfrm>
          <a:prstGeom prst="ellipse">
            <a:avLst/>
          </a:prstGeom>
          <a:solidFill>
            <a:srgbClr val="5FAE8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1005840" y="3465576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· Analyse émotions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67512" y="3863340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786384" y="3968496"/>
            <a:ext cx="118872" cy="118872"/>
          </a:xfrm>
          <a:prstGeom prst="ellipse">
            <a:avLst/>
          </a:prstGeom>
          <a:solidFill>
            <a:srgbClr val="5FAE8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1005840" y="3863340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 · Score + explicabilité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67512" y="4261104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786384" y="4366260"/>
            <a:ext cx="118872" cy="118872"/>
          </a:xfrm>
          <a:prstGeom prst="ellipse">
            <a:avLst/>
          </a:prstGeom>
          <a:solidFill>
            <a:srgbClr val="5FAE8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1005840" y="4261104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P6 · Dashboard MVP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255264" y="1325880"/>
            <a:ext cx="2587752" cy="3310128"/>
          </a:xfrm>
          <a:prstGeom prst="roundRect">
            <a:avLst>
              <a:gd name="adj" fmla="val 2120"/>
            </a:avLst>
          </a:prstGeom>
          <a:solidFill>
            <a:srgbClr val="EAF1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Shape 28"/>
          <p:cNvSpPr/>
          <p:nvPr/>
        </p:nvSpPr>
        <p:spPr>
          <a:xfrm>
            <a:off x="3255264" y="1325880"/>
            <a:ext cx="2587752" cy="438912"/>
          </a:xfrm>
          <a:prstGeom prst="roundRect">
            <a:avLst>
              <a:gd name="adj" fmla="val 12500"/>
            </a:avLst>
          </a:prstGeom>
          <a:solidFill>
            <a:srgbClr val="E9A23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3392424" y="1325880"/>
            <a:ext cx="1764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cours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157216" y="1325880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374136" y="1874520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4" name="Shape 32"/>
          <p:cNvSpPr/>
          <p:nvPr/>
        </p:nvSpPr>
        <p:spPr>
          <a:xfrm>
            <a:off x="3493008" y="1979676"/>
            <a:ext cx="118872" cy="118872"/>
          </a:xfrm>
          <a:prstGeom prst="ellipse">
            <a:avLst/>
          </a:prstGeom>
          <a:solidFill>
            <a:srgbClr val="E9A23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3712464" y="1874520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P7 · Monitoring énergétique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961888" y="1325880"/>
            <a:ext cx="2587752" cy="3310128"/>
          </a:xfrm>
          <a:prstGeom prst="roundRect">
            <a:avLst>
              <a:gd name="adj" fmla="val 2120"/>
            </a:avLst>
          </a:prstGeom>
          <a:solidFill>
            <a:srgbClr val="EAF1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7" name="Shape 35"/>
          <p:cNvSpPr/>
          <p:nvPr/>
        </p:nvSpPr>
        <p:spPr>
          <a:xfrm>
            <a:off x="5961888" y="1325880"/>
            <a:ext cx="2587752" cy="438912"/>
          </a:xfrm>
          <a:prstGeom prst="roundRect">
            <a:avLst>
              <a:gd name="adj" fmla="val 12500"/>
            </a:avLst>
          </a:prstGeom>
          <a:solidFill>
            <a:srgbClr val="76A5A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6099048" y="1325880"/>
            <a:ext cx="1764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faire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863840" y="1325880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080760" y="1874520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1" name="Shape 39"/>
          <p:cNvSpPr/>
          <p:nvPr/>
        </p:nvSpPr>
        <p:spPr>
          <a:xfrm>
            <a:off x="6199632" y="1979676"/>
            <a:ext cx="118872" cy="118872"/>
          </a:xfrm>
          <a:prstGeom prst="ellipse">
            <a:avLst/>
          </a:prstGeom>
          <a:solidFill>
            <a:srgbClr val="76A5A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6419088" y="1874520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&amp; guide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080760" y="2272284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4" name="Shape 42"/>
          <p:cNvSpPr/>
          <p:nvPr/>
        </p:nvSpPr>
        <p:spPr>
          <a:xfrm>
            <a:off x="6199632" y="2377440"/>
            <a:ext cx="118872" cy="118872"/>
          </a:xfrm>
          <a:prstGeom prst="ellipse">
            <a:avLst/>
          </a:prstGeom>
          <a:solidFill>
            <a:srgbClr val="76A5A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5" name="Text 43"/>
          <p:cNvSpPr/>
          <p:nvPr/>
        </p:nvSpPr>
        <p:spPr>
          <a:xfrm>
            <a:off x="6419088" y="2272284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de demonstration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080760" y="2670048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7" name="Shape 45"/>
          <p:cNvSpPr/>
          <p:nvPr/>
        </p:nvSpPr>
        <p:spPr>
          <a:xfrm>
            <a:off x="6199632" y="2775204"/>
            <a:ext cx="118872" cy="118872"/>
          </a:xfrm>
          <a:prstGeom prst="ellipse">
            <a:avLst/>
          </a:prstGeom>
          <a:solidFill>
            <a:srgbClr val="76A5A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8" name="Text 46"/>
          <p:cNvSpPr/>
          <p:nvPr/>
        </p:nvSpPr>
        <p:spPr>
          <a:xfrm>
            <a:off x="6419088" y="2670048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 final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080760" y="3067812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0" name="Shape 48"/>
          <p:cNvSpPr/>
          <p:nvPr/>
        </p:nvSpPr>
        <p:spPr>
          <a:xfrm>
            <a:off x="6199632" y="3172968"/>
            <a:ext cx="118872" cy="118872"/>
          </a:xfrm>
          <a:prstGeom prst="ellipse">
            <a:avLst/>
          </a:prstGeom>
          <a:solidFill>
            <a:srgbClr val="76A5A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1" name="Text 49"/>
          <p:cNvSpPr/>
          <p:nvPr/>
        </p:nvSpPr>
        <p:spPr>
          <a:xfrm>
            <a:off x="6419088" y="3067812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TRAVAUX RÉALISÉS ·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&amp; prétraitement NLP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0749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731520" y="1719072"/>
            <a:ext cx="731520" cy="73152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731520" y="171907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62763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Bluesky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627632" y="192024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Bluesky Jetstream : flux en temps reel de TOUS les posts publics (pas de filtre par mot-cle). 102 680 posts aspires en ~40 min et stockes dans MongoDB.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50749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731520" y="3136392"/>
            <a:ext cx="731520" cy="73152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731520" y="3136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627632" y="304495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 NLP (pipeline Kedro)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627632" y="333756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etapes automatisees : suppression liens/mentions/hashtags, detection de la langue reelle du texte (et non le tag declare), normalisation, decoupage en mots, reduction a la racine. Seuls les posts en anglais sont conserves. Sortie : MongoDB.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52160" y="1463040"/>
            <a:ext cx="2743200" cy="2679192"/>
          </a:xfrm>
          <a:prstGeom prst="roundRect">
            <a:avLst>
              <a:gd name="adj" fmla="val 2730"/>
            </a:avLst>
          </a:prstGeom>
          <a:solidFill>
            <a:srgbClr val="0C343D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035040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VOLUMÉTRIE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35040" y="19933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102 680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086600" y="199339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collectes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035040" y="2542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102 680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086600" y="25420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temps reel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035040" y="30906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11 281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086600" y="309067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en anglais (11 %)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035040" y="363931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91 399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086600" y="363931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filtres (autre langue / vide)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TRAVAUX RÉALISÉS · 1b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 : ce post contient-il une affirmation verifiable ?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0749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731520" y="1719072"/>
            <a:ext cx="731520" cy="73152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731520" y="171907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62763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Problème identifié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627632" y="192024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modèle baseline scorait 96,4 % des posts comme « fake », y compris des posts personnels (ex. « je suis fatigué »). Cause : entraîné sur des articles de presse, pas sur des posts sociaux.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50749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731520" y="3136392"/>
            <a:ext cx="731520" cy="73152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731520" y="3136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627632" y="304495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: filtre d affirmations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627632" y="333756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classe en amont : « ce post affirme-t-il un fait verifiable ? »  OUI -&gt; analyse fake news  |  NON -&gt; post personnel ignore (ex : « je suis fatigue »).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52160" y="1463040"/>
            <a:ext cx="2743200" cy="2679192"/>
          </a:xfrm>
          <a:prstGeom prst="roundRect">
            <a:avLst>
              <a:gd name="adj" fmla="val 2730"/>
            </a:avLst>
          </a:prstGeom>
          <a:solidFill>
            <a:srgbClr val="0C343D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035040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APPROCHE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35040" y="19933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 / EN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086600" y="199339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035040" y="2542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086600" y="25420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critères de scoring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035040" y="30906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88,5 %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086600" y="309067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affirmations factuelles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035040" y="363931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2 550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086600" y="363931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filtrés (11,5 %)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09b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TRAVAUX RÉALISÉS ·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fake news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 baseline : analyse statistique des mots + classification probabiliste</a:t>
            </a:r>
            <a:r>
              <a:rPr lang="en-US" sz="1400" b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Entraine sur 40 000 articles (HuggingFace) : vrais articles journalistiques vs faux
Split train/validation/test ; precision et rappel mesures separement
Modele sauvegarde puis applique sur les posts Bluesky
Sortie : score de credibilite, etiquette fake/real, niveau d alerte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3977640"/>
            <a:ext cx="5120640" cy="658368"/>
          </a:xfrm>
          <a:prstGeom prst="roundRect">
            <a:avLst>
              <a:gd name="adj" fmla="val 11111"/>
            </a:avLst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731520" y="397764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97,7 %   de precision du modele sur les donnees de test</a:t>
            </a:r>
            <a:r>
              <a:rPr lang="en-US" sz="1200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94360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classés</a:t>
            </a:r>
            <a:endParaRPr lang="en-US" sz="120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5806440" y="1554480"/>
          <a:ext cx="283464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 7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TRAVAUX RÉALISÉS ·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Émotions &amp; score de crédibilité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97764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777240" y="157276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émotionnelle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190195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VADER (sentiment) + lexique custom : colère, peur, joie, tristesse, surprise, humour.</a:t>
            </a:r>
            <a:endParaRPr lang="en-US" sz="105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640080" y="2377440"/>
          <a:ext cx="379476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4709160" y="1417320"/>
            <a:ext cx="3886200" cy="3154680"/>
          </a:xfrm>
          <a:prstGeom prst="roundRect">
            <a:avLst>
              <a:gd name="adj" fmla="val 2319"/>
            </a:avLst>
          </a:prstGeom>
          <a:solidFill>
            <a:srgbClr val="0C343D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4937760" y="1572768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final &amp; explicabilité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4937760" y="190195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combiné, normalisé 0–100, avec une phrase explicative lisible par poste (fact-checking).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937760" y="2542032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70 %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5852160" y="254203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fake news (modèle)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937760" y="3044952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5852160" y="304495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sentiment négatif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937760" y="3547872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9CC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5852160" y="354787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émotion (colère/peur)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937760" y="4114800"/>
            <a:ext cx="3474720" cy="347472"/>
          </a:xfrm>
          <a:prstGeom prst="roundRect">
            <a:avLst>
              <a:gd name="adj" fmla="val 50000"/>
            </a:avLst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4937760" y="411480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final de credibilite (0-100) et niveau d alerte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TRAVAUX RÉALISÉS ·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MVP &amp; agent IA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02920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676656" y="1591056"/>
            <a:ext cx="420624" cy="420624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1682496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5361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&amp; visualisations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234440" y="1810512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alertes hautes, score moyen, séries temporelles.</a:t>
            </a:r>
            <a:endParaRPr lang="en-US" sz="980" dirty="0"/>
          </a:p>
        </p:txBody>
      </p:sp>
      <p:sp>
        <p:nvSpPr>
          <p:cNvPr id="9" name="Shape 6"/>
          <p:cNvSpPr/>
          <p:nvPr/>
        </p:nvSpPr>
        <p:spPr>
          <a:xfrm>
            <a:off x="548640" y="2240280"/>
            <a:ext cx="502920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676656" y="2368296"/>
            <a:ext cx="420624" cy="420624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" y="2459736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34440" y="2313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Filtres dynamiques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1234440" y="2587752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Langue, niveau d'alerte, émotion, date, recherche libre.</a:t>
            </a:r>
            <a:endParaRPr lang="en-US" sz="980" dirty="0"/>
          </a:p>
        </p:txBody>
      </p:sp>
      <p:sp>
        <p:nvSpPr>
          <p:cNvPr id="14" name="Shape 10"/>
          <p:cNvSpPr/>
          <p:nvPr/>
        </p:nvSpPr>
        <p:spPr>
          <a:xfrm>
            <a:off x="548640" y="3017520"/>
            <a:ext cx="502920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676656" y="3145536"/>
            <a:ext cx="420624" cy="420624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" y="3236976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34440" y="309067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détaillée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234440" y="3364992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post avec son score et le détail (breakdown).</a:t>
            </a:r>
            <a:endParaRPr lang="en-US" sz="980" dirty="0"/>
          </a:p>
        </p:txBody>
      </p:sp>
      <p:sp>
        <p:nvSpPr>
          <p:cNvPr id="19" name="Shape 14"/>
          <p:cNvSpPr/>
          <p:nvPr/>
        </p:nvSpPr>
        <p:spPr>
          <a:xfrm>
            <a:off x="548640" y="3794760"/>
            <a:ext cx="502920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5"/>
          <p:cNvSpPr/>
          <p:nvPr/>
        </p:nvSpPr>
        <p:spPr>
          <a:xfrm>
            <a:off x="676656" y="3922776"/>
            <a:ext cx="420624" cy="420624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096" y="401421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234440" y="38679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IA (gratuit)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1234440" y="4142232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Groq · Llama 3.1 pour interroger les tendances.</a:t>
            </a:r>
            <a:endParaRPr lang="en-US" sz="980" dirty="0"/>
          </a:p>
        </p:txBody>
      </p:sp>
      <p:sp>
        <p:nvSpPr>
          <p:cNvPr id="24" name="Shape 18"/>
          <p:cNvSpPr/>
          <p:nvPr/>
        </p:nvSpPr>
        <p:spPr>
          <a:xfrm>
            <a:off x="5852160" y="1463040"/>
            <a:ext cx="2743200" cy="3099816"/>
          </a:xfrm>
          <a:prstGeom prst="roundRect">
            <a:avLst>
              <a:gd name="adj" fmla="val 2667"/>
            </a:avLst>
          </a:prstGeom>
          <a:solidFill>
            <a:srgbClr val="134F5C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Shape 19"/>
          <p:cNvSpPr/>
          <p:nvPr/>
        </p:nvSpPr>
        <p:spPr>
          <a:xfrm>
            <a:off x="6903720" y="1828800"/>
            <a:ext cx="640080" cy="640080"/>
          </a:xfrm>
          <a:prstGeom prst="ellipse">
            <a:avLst/>
          </a:prstGeom>
          <a:solidFill>
            <a:srgbClr val="0C343D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2592" y="1947672"/>
            <a:ext cx="402336" cy="40233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989320" y="26060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 live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6035040" y="29443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Streamlit en conditions réelles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172200" y="361188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3"/>
          <p:cNvSpPr/>
          <p:nvPr/>
        </p:nvSpPr>
        <p:spPr>
          <a:xfrm>
            <a:off x="6172200" y="36118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localhost:8501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2" name="Text 25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TRAVAUX REALISES - 5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Ingenierie &amp; automatisation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0749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731520" y="1719072"/>
            <a:ext cx="731520" cy="73152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731520" y="171907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62763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NLP structure (Kedro 1.2)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627632" y="192024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etape est une fonction independante, testee et reexecutable. En cas d erreur, on peut rejouer uniquement l etape defaillante. Les resultats intermediaires sont sauvegardes : pas de perte de donnees. Visualisation graphique du pipeline avec kedro viz.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50749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731520" y="3136392"/>
            <a:ext cx="731520" cy="73152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731520" y="3136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627632" y="304495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+ GitHub Actions CI/CD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627632" y="333756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: planificateur automatique qui collecte et nettoie les posts chaque nuit a minuit, sans intervention manuelle. GitHub Actions : a chaque modification du code, 25 tests automatiques verifient que rien n est casse.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52160" y="1463040"/>
            <a:ext cx="2743200" cy="2679192"/>
          </a:xfrm>
          <a:prstGeom prst="roundRect">
            <a:avLst>
              <a:gd name="adj" fmla="val 2730"/>
            </a:avLst>
          </a:prstGeom>
          <a:solidFill>
            <a:srgbClr val="0C343D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035040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METRIQUES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35040" y="19933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086600" y="199339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Kedro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035040" y="2542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086600" y="25420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unitaires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035040" y="30906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086600" y="309067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automatique nocturne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035040" y="363931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086600" y="363931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verte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12b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34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-1097280"/>
            <a:ext cx="3108960" cy="310896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sur la base initiale (22 408 posts) - base de reference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856232" cy="1234440"/>
          </a:xfrm>
          <a:prstGeom prst="roundRect">
            <a:avLst>
              <a:gd name="adj" fmla="val 5926"/>
            </a:avLst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594360" y="1517904"/>
            <a:ext cx="176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22 408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94360" y="2212848"/>
            <a:ext cx="1764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de la base initiale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83180" y="1417320"/>
            <a:ext cx="1856232" cy="1234440"/>
          </a:xfrm>
          <a:prstGeom prst="roundRect">
            <a:avLst>
              <a:gd name="adj" fmla="val 5926"/>
            </a:avLst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2628900" y="1517904"/>
            <a:ext cx="176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97,7 %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628900" y="2212848"/>
            <a:ext cx="1764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du modele (F1-score)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17720" y="1417320"/>
            <a:ext cx="1856232" cy="1234440"/>
          </a:xfrm>
          <a:prstGeom prst="roundRect">
            <a:avLst>
              <a:gd name="adj" fmla="val 5926"/>
            </a:avLst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663440" y="1517904"/>
            <a:ext cx="176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19 634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663440" y="2212848"/>
            <a:ext cx="1764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analysés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652260" y="1417320"/>
            <a:ext cx="1856232" cy="1234440"/>
          </a:xfrm>
          <a:prstGeom prst="roundRect">
            <a:avLst>
              <a:gd name="adj" fmla="val 5926"/>
            </a:avLst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697980" y="1517904"/>
            <a:ext cx="176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3B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4 912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697980" y="2212848"/>
            <a:ext cx="1764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 hautes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2926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 des niveaux d'alerte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310128"/>
            <a:ext cx="548878" cy="457200"/>
          </a:xfrm>
          <a:prstGeom prst="rect">
            <a:avLst/>
          </a:prstGeom>
          <a:solidFill>
            <a:srgbClr val="5FAE8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548640" y="3310128"/>
            <a:ext cx="548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1 545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097518" y="3310128"/>
            <a:ext cx="5565445" cy="457200"/>
          </a:xfrm>
          <a:prstGeom prst="rect">
            <a:avLst/>
          </a:prstGeom>
          <a:solidFill>
            <a:srgbClr val="E9A23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1097518" y="3310128"/>
            <a:ext cx="55654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13 177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662962" y="3310128"/>
            <a:ext cx="1932398" cy="457200"/>
          </a:xfrm>
          <a:prstGeom prst="rect">
            <a:avLst/>
          </a:prstGeom>
          <a:solidFill>
            <a:srgbClr val="E15D4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6662962" y="3310128"/>
            <a:ext cx="19323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4 912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3977640"/>
            <a:ext cx="164592" cy="164592"/>
          </a:xfrm>
          <a:prstGeom prst="ellipse">
            <a:avLst/>
          </a:prstGeom>
          <a:solidFill>
            <a:srgbClr val="5FAE8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786384" y="392277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 — 1 545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377440" y="3977640"/>
            <a:ext cx="164592" cy="164592"/>
          </a:xfrm>
          <a:prstGeom prst="ellipse">
            <a:avLst/>
          </a:prstGeom>
          <a:solidFill>
            <a:srgbClr val="E9A23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2615184" y="392277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 — 13 177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206240" y="3977640"/>
            <a:ext cx="164592" cy="164592"/>
          </a:xfrm>
          <a:prstGeom prst="ellipse">
            <a:avLst/>
          </a:prstGeom>
          <a:solidFill>
            <a:srgbClr val="E15D4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4443984" y="392277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Élevé — 4 912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3891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crédibilité moyen : 0,44 / 1  ·  émotion dominante la plus fréquente : négatif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Empreinte carbone du pipeline (CodeCarbon)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0749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731520" y="1719072"/>
            <a:ext cx="731520" cy="73152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731520" y="171907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62763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CodeCarbon intégré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627632" y="192024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CodeCarbon mesure l'empreinte du pipeline ML : entraînement TF-IDF + LogReg et analyse émotionnelle (batch). Sortie models/emissions.csv (kgCO₂eq + kWh par run).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50749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731520" y="3136392"/>
            <a:ext cx="731520" cy="73152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731520" y="3136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627632" y="304495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 &amp; comparaison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627632" y="333756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runs par étape, machine locale, mix électrique France (Île-de-France). Indicateurs : énergie (Wh), CO₂ (gCO₂eq), durée — base de comparaison entre configurations.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52160" y="1463040"/>
            <a:ext cx="2743200" cy="2679192"/>
          </a:xfrm>
          <a:prstGeom prst="roundRect">
            <a:avLst>
              <a:gd name="adj" fmla="val 2730"/>
            </a:avLst>
          </a:prstGeom>
          <a:solidFill>
            <a:srgbClr val="0C343D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035040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EMPREINTE PAR RUN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35040" y="19933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086600" y="199339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gCO₂eq · pipeline complet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035040" y="2542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43,6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086600" y="25420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 consommés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035040" y="30906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9,1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086600" y="309067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d'exécution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035040" y="363931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086600" y="363931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en voiture (équiv.)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Pistes d'amélioration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749808" y="1700784"/>
            <a:ext cx="585216" cy="585216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1837944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6459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énergétique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508760" y="1956816"/>
            <a:ext cx="28529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Empreinte désormais mesurée (CodeCarbon) : place à l'optimisation — comparer les configurations, traiter en heures creuses, alléger le modèle.</a:t>
            </a:r>
            <a:endParaRPr lang="en-US" sz="1020" dirty="0"/>
          </a:p>
        </p:txBody>
      </p:sp>
      <p:sp>
        <p:nvSpPr>
          <p:cNvPr id="9" name="Shape 6"/>
          <p:cNvSpPr/>
          <p:nvPr/>
        </p:nvSpPr>
        <p:spPr>
          <a:xfrm>
            <a:off x="4709160" y="146304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4910328" y="1700784"/>
            <a:ext cx="585216" cy="585216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1837944"/>
            <a:ext cx="310896" cy="31089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9280" y="16459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avancés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5669280" y="1956816"/>
            <a:ext cx="28529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de la baseline à BERT / RoBERTa et un modèle d'émotions spécialisé pour gagner en finesse.</a:t>
            </a:r>
            <a:endParaRPr lang="en-US" sz="1020" dirty="0"/>
          </a:p>
        </p:txBody>
      </p:sp>
      <p:sp>
        <p:nvSpPr>
          <p:cNvPr id="14" name="Shape 10"/>
          <p:cNvSpPr/>
          <p:nvPr/>
        </p:nvSpPr>
        <p:spPr>
          <a:xfrm>
            <a:off x="548640" y="297180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749808" y="3209544"/>
            <a:ext cx="585216" cy="585216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3346704"/>
            <a:ext cx="310896" cy="31089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08760" y="315468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Industrialisation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1508760" y="3465576"/>
            <a:ext cx="28529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automatiques en place (25 tests, GitHub Actions). Prochaines etapes : outils de monitoring des erreurs, documentation utilisateur et video de demonstration.</a:t>
            </a:r>
            <a:endParaRPr lang="en-US" sz="1020" dirty="0"/>
          </a:p>
        </p:txBody>
      </p:sp>
      <p:sp>
        <p:nvSpPr>
          <p:cNvPr id="19" name="Shape 14"/>
          <p:cNvSpPr/>
          <p:nvPr/>
        </p:nvSpPr>
        <p:spPr>
          <a:xfrm>
            <a:off x="4709160" y="297180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5"/>
          <p:cNvSpPr/>
          <p:nvPr/>
        </p:nvSpPr>
        <p:spPr>
          <a:xfrm>
            <a:off x="4910328" y="3209544"/>
            <a:ext cx="585216" cy="585216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7488" y="3346704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669280" y="315468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Passage à l'échelle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5669280" y="3465576"/>
            <a:ext cx="28529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scalable avec Spark / Kafka pour le temps réel et de plus gros volumes.</a:t>
            </a:r>
            <a:endParaRPr lang="en-US" sz="1020" dirty="0"/>
          </a:p>
        </p:txBody>
      </p:sp>
      <p:sp>
        <p:nvSpPr>
          <p:cNvPr id="24" name="Text 18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34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2468880"/>
            <a:ext cx="3840480" cy="384048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-1005840" y="-1188720"/>
            <a:ext cx="2926080" cy="292608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de votre attention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58368" y="2377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questions 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58368" y="3063240"/>
            <a:ext cx="164592" cy="164592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969264" y="3063240"/>
            <a:ext cx="164592" cy="164592"/>
          </a:xfrm>
          <a:prstGeom prst="ellipse">
            <a:avLst/>
          </a:prstGeom>
          <a:solidFill>
            <a:srgbClr val="76A5A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1280160" y="3063240"/>
            <a:ext cx="164592" cy="164592"/>
          </a:xfrm>
          <a:prstGeom prst="ellipse">
            <a:avLst/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2044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24128" y="350215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github.com/Atixu/Projet_Etude_M1_SDV</a:t>
            </a:r>
            <a:endParaRPr lang="en-US" sz="12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97764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24128" y="395935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Guillaume REAULT  &amp;  William BELLON  —  M1 Big Data &amp; IA · SDV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1205</Words>
  <Application>Microsoft Office PowerPoint</Application>
  <PresentationFormat>Affichage à l'écran (16:9)</PresentationFormat>
  <Paragraphs>273</Paragraphs>
  <Slides>16</Slides>
  <Notes>15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 Thumalien – Détection de fake news sur Bluesky</dc:title>
  <dc:subject>PptxGenJS Presentation</dc:subject>
  <dc:creator>Guillaume REAULT &amp; William BELLON</dc:creator>
  <cp:lastModifiedBy>William BELLON</cp:lastModifiedBy>
  <cp:revision>2</cp:revision>
  <dcterms:created xsi:type="dcterms:W3CDTF">2026-06-23T13:42:15Z</dcterms:created>
  <dcterms:modified xsi:type="dcterms:W3CDTF">2026-06-25T07:25:33Z</dcterms:modified>
</cp:coreProperties>
</file>