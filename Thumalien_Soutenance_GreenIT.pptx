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23"/>
    <p:sldId id="265" r:id="rId11"/>
    <p:sldId id="266" r:id="rId12"/>
    <p:sldId id="267" r:id="rId13"/>
    <p:sldId id="273" r:id="rId24"/>
    <p:sldId id="268" r:id="rId14"/>
    <p:sldId id="271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5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0.xml"/><Relationship Id="rId24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5D4C"/>
              </a:solidFill>
              <a:ln w="25400" cap="flat">
                <a:solidFill>
                  <a:srgbClr val="F3F7F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CB8-42C1-B6CB-1E755D849AB7}"/>
              </c:ext>
            </c:extLst>
          </c:dPt>
          <c:dPt>
            <c:idx val="1"/>
            <c:bubble3D val="0"/>
            <c:spPr>
              <a:solidFill>
                <a:srgbClr val="5FAE8C"/>
              </a:solidFill>
              <a:ln w="25400" cap="flat">
                <a:solidFill>
                  <a:srgbClr val="F3F7F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CB8-42C1-B6CB-1E755D849AB7}"/>
              </c:ext>
            </c:extLst>
          </c:dPt>
          <c:cat>
            <c:strRef>
              <c:f>Sheet1!$A$2:$A$3</c:f>
              <c:strCache>
                <c:ptCount val="2"/>
                <c:pt idx="0">
                  <c:v>Suspects (fake)</c:v>
                </c:pt>
                <c:pt idx="1">
                  <c:v>Fiables (real)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4476</c:v>
                </c:pt>
                <c:pt idx="1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B8-42C1-B6CB-1E755D849A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7B8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5FAE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E86-45A5-96CF-C6F32EAB8359}"/>
              </c:ext>
            </c:extLst>
          </c:dPt>
          <c:dPt>
            <c:idx val="1"/>
            <c:invertIfNegative val="0"/>
            <c:bubble3D val="0"/>
            <c:spPr>
              <a:solidFill>
                <a:srgbClr val="76A5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86-45A5-96CF-C6F32EAB8359}"/>
              </c:ext>
            </c:extLst>
          </c:dPt>
          <c:dPt>
            <c:idx val="2"/>
            <c:invertIfNegative val="0"/>
            <c:bubble3D val="0"/>
            <c:spPr>
              <a:solidFill>
                <a:srgbClr val="E15D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E86-45A5-96CF-C6F32EAB83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C343D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Positif</c:v>
                </c:pt>
                <c:pt idx="1">
                  <c:v>Neutre</c:v>
                </c:pt>
                <c:pt idx="2">
                  <c:v>Négatif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1439</c:v>
                </c:pt>
                <c:pt idx="1">
                  <c:v>1233</c:v>
                </c:pt>
                <c:pt idx="2">
                  <c:v>1946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E86-45A5-96CF-C6F32EAB83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501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nous sommes Guillaume Reault et William Bellon. Nous présentons Thumalien, notre projet de détection de fake news sur le réseau social Bluesky, combinant NLP, analyse émotionnelle et un dashboard interactif.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138160" y="2377440"/>
            <a:ext cx="2560320" cy="2560320"/>
          </a:xfrm>
          <a:prstGeom prst="ellipse">
            <a:avLst/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822960" y="3383280"/>
            <a:ext cx="2377440" cy="237744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841248" cy="841248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69494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713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D'ÉTUDES · M1 BIG DATA &amp; IA · SDV 2025-2026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566928" y="2606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fake news sur Bluesky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566928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NLP · score de crédibilité · analyse émotionnelle · dashboard interactif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886200"/>
            <a:ext cx="164592" cy="164592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877824" y="3886200"/>
            <a:ext cx="164592" cy="164592"/>
          </a:xfrm>
          <a:prstGeom prst="ellipse">
            <a:avLst/>
          </a:prstGeom>
          <a:solidFill>
            <a:srgbClr val="76A5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1188720" y="3886200"/>
            <a:ext cx="164592" cy="164592"/>
          </a:xfrm>
          <a:prstGeom prst="ellipse">
            <a:avLst/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66928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Guillaume REAULT</a:t>
            </a:r>
            <a:r>
              <a:rPr lang="en-US" sz="15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BELLON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" y="4498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du 26 juin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58368" y="152704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63040" y="156362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des fake news et buts du projet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18888" y="152704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623560" y="156362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méthodologie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2356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technique et démarche Agile / Scrum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8368" y="257860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040" y="26151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projet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Gantt, Kanban et phases de développement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46888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18888" y="257860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623560" y="26151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réalisés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62356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Collecte, NLP, classification, émotions, score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58368" y="363016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63040" y="3666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dashboard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obtenus et démonstration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52044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18888" y="363016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623560" y="366674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62356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et passage à l'échelle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détecter les fake news 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réseaux sociaux accélèrent la diffusion de l'information — mais aussi la propagation de la désinformation, plus rapide que les démentis.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931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49808" y="2240280"/>
            <a:ext cx="603504" cy="603504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3774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67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ingérable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24780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de contenus pour une modération 100 % humaine.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965960"/>
            <a:ext cx="3931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910328" y="2240280"/>
            <a:ext cx="603504" cy="603504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774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1671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rapide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669280" y="24780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fausses informations circulent plus vite que les corrections.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91840"/>
            <a:ext cx="3931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749808" y="3566160"/>
            <a:ext cx="603504" cy="603504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70332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4930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centrés EN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08760" y="38039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solutions traitent correctement le français.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291840"/>
            <a:ext cx="3931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910328" y="3566160"/>
            <a:ext cx="603504" cy="603504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70332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4930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oubliés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669280" y="38039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émotionnel et coût énergétique rarement mesurés.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01 · Contexte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04 · Travaux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vise Thumalien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26974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152144" y="1828800"/>
            <a:ext cx="676656" cy="676656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6736" y="19933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03580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pipeline NLP qui classe les posts Bluesky en fake / real (FR &amp; EN).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83180" y="1554480"/>
            <a:ext cx="1874520" cy="26974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186684" y="1828800"/>
            <a:ext cx="676656" cy="676656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1276" y="19933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74620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7772" y="303580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indicateurs clairs : score de crédibilité et tonalité émotionnelle.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17720" y="1554480"/>
            <a:ext cx="1874520" cy="26974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5221224" y="1828800"/>
            <a:ext cx="676656" cy="676656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85816" y="19933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782312" y="303580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transparence : justification lisible de chaque décision.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652260" y="1554480"/>
            <a:ext cx="1874520" cy="26974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7255764" y="1828800"/>
            <a:ext cx="676656" cy="676656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20356" y="199339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43700" y="26334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816852" y="303580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Green IT : suivi de la consommation énergétique.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01 · Contexte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04 · Travaux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collecte au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45818E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31343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11480" y="2587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 API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487424" y="2377440"/>
            <a:ext cx="164592" cy="0"/>
          </a:xfrm>
          <a:prstGeom prst="line">
            <a:avLst/>
          </a:prstGeom>
          <a:noFill/>
          <a:ln w="25400">
            <a:solidFill>
              <a:srgbClr val="76A5A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658112" y="16916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134F5C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78152" y="18745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12392" y="231343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612392" y="2587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raw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688336" y="2377440"/>
            <a:ext cx="164592" cy="0"/>
          </a:xfrm>
          <a:prstGeom prst="line">
            <a:avLst/>
          </a:prstGeom>
          <a:noFill/>
          <a:ln w="25400">
            <a:solidFill>
              <a:srgbClr val="76A5A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2859024" y="16916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45818E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79064" y="187452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13304" y="231343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2813304" y="2587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Kedro NLP (7 nodes)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889248" y="2377440"/>
            <a:ext cx="164592" cy="0"/>
          </a:xfrm>
          <a:prstGeom prst="line">
            <a:avLst/>
          </a:prstGeom>
          <a:noFill/>
          <a:ln w="25400">
            <a:solidFill>
              <a:srgbClr val="76A5A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4059936" y="16916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134F5C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79976" y="1874520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14216" y="231343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→ Classif.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014216" y="2587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LogReg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5090160" y="2377440"/>
            <a:ext cx="164592" cy="0"/>
          </a:xfrm>
          <a:prstGeom prst="line">
            <a:avLst/>
          </a:prstGeom>
          <a:noFill/>
          <a:ln w="25400">
            <a:solidFill>
              <a:srgbClr val="76A5A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5260848" y="16916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45818E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80888" y="1874520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15128" y="231343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Émotions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215128" y="2587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+ lexique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6291072" y="2377440"/>
            <a:ext cx="164592" cy="0"/>
          </a:xfrm>
          <a:prstGeom prst="line">
            <a:avLst/>
          </a:prstGeom>
          <a:noFill/>
          <a:ln w="25400">
            <a:solidFill>
              <a:srgbClr val="76A5A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2"/>
          <p:cNvSpPr/>
          <p:nvPr/>
        </p:nvSpPr>
        <p:spPr>
          <a:xfrm>
            <a:off x="6461760" y="16916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134F5C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81800" y="1874520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416040" y="231343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final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6416040" y="2587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explicabilité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7491984" y="2377440"/>
            <a:ext cx="164592" cy="0"/>
          </a:xfrm>
          <a:prstGeom prst="line">
            <a:avLst/>
          </a:prstGeom>
          <a:noFill/>
          <a:ln w="25400">
            <a:solidFill>
              <a:srgbClr val="76A5AF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6"/>
          <p:cNvSpPr/>
          <p:nvPr/>
        </p:nvSpPr>
        <p:spPr>
          <a:xfrm>
            <a:off x="7662672" y="1691640"/>
            <a:ext cx="1024128" cy="1371600"/>
          </a:xfrm>
          <a:prstGeom prst="roundRect">
            <a:avLst>
              <a:gd name="adj" fmla="val 7143"/>
            </a:avLst>
          </a:prstGeom>
          <a:solidFill>
            <a:srgbClr val="0C343D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982712" y="1874520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616952" y="231343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7616952" y="258775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548640" y="3767328"/>
            <a:ext cx="1080821" cy="347472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1"/>
          <p:cNvSpPr/>
          <p:nvPr/>
        </p:nvSpPr>
        <p:spPr>
          <a:xfrm>
            <a:off x="548640" y="3767328"/>
            <a:ext cx="10808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1775765" y="3767328"/>
            <a:ext cx="1605686" cy="347472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3"/>
          <p:cNvSpPr/>
          <p:nvPr/>
        </p:nvSpPr>
        <p:spPr>
          <a:xfrm>
            <a:off x="1775765" y="3767328"/>
            <a:ext cx="16056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 / Docker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3527755" y="3767328"/>
            <a:ext cx="1155802" cy="347472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5"/>
          <p:cNvSpPr/>
          <p:nvPr/>
        </p:nvSpPr>
        <p:spPr>
          <a:xfrm>
            <a:off x="3527755" y="3767328"/>
            <a:ext cx="11558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4829861" y="3767328"/>
            <a:ext cx="1305763" cy="347472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37"/>
          <p:cNvSpPr/>
          <p:nvPr/>
        </p:nvSpPr>
        <p:spPr>
          <a:xfrm>
            <a:off x="4829861" y="3767328"/>
            <a:ext cx="13057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vaderSentiment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6281928" y="3767328"/>
            <a:ext cx="1605686" cy="347472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39"/>
          <p:cNvSpPr/>
          <p:nvPr/>
        </p:nvSpPr>
        <p:spPr>
          <a:xfrm>
            <a:off x="6281928" y="3767328"/>
            <a:ext cx="16056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548640" y="4224528"/>
            <a:ext cx="1755648" cy="347472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1"/>
          <p:cNvSpPr/>
          <p:nvPr/>
        </p:nvSpPr>
        <p:spPr>
          <a:xfrm>
            <a:off x="548640" y="422452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datasets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2450592" y="4224528"/>
            <a:ext cx="1455725" cy="347472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43"/>
          <p:cNvSpPr/>
          <p:nvPr/>
        </p:nvSpPr>
        <p:spPr>
          <a:xfrm>
            <a:off x="2450592" y="4224528"/>
            <a:ext cx="14557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4052621" y="4224528"/>
            <a:ext cx="780898" cy="347472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45"/>
          <p:cNvSpPr/>
          <p:nvPr/>
        </p:nvSpPr>
        <p:spPr>
          <a:xfrm>
            <a:off x="4052621" y="4224528"/>
            <a:ext cx="780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Kedro 1.2 + Airflow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02 · Architecture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04 · Travaux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Agile / Scrum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13232" y="1682496"/>
            <a:ext cx="493776" cy="493776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922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9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sprints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9019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découpé en 8 parties livrées sur 6 sprints itératifs.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713232" y="2715768"/>
            <a:ext cx="493776" cy="493776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254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42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partagés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93522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(collecte/ETL) &amp; Data Scientist (NLP/modèles).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529584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713232" y="3749040"/>
            <a:ext cx="493776" cy="493776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587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par partie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71600" y="396849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lot : scope → implémentation → tests → compte-rendu.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40680" y="1463040"/>
            <a:ext cx="3154680" cy="3099816"/>
          </a:xfrm>
          <a:prstGeom prst="roundRect">
            <a:avLst>
              <a:gd name="adj" fmla="val 2360"/>
            </a:avLst>
          </a:prstGeom>
          <a:solidFill>
            <a:srgbClr val="0C343D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566928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sprint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669280" y="2167128"/>
            <a:ext cx="256032" cy="256032"/>
          </a:xfrm>
          <a:prstGeom prst="ellipse">
            <a:avLst/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5669280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035040" y="2112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— cadrage du lot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669280" y="2734056"/>
            <a:ext cx="256032" cy="256032"/>
          </a:xfrm>
          <a:prstGeom prst="ellipse">
            <a:avLst/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/>
          <p:nvPr/>
        </p:nvSpPr>
        <p:spPr>
          <a:xfrm>
            <a:off x="5669280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035040" y="2679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&amp; revue de code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669280" y="3300984"/>
            <a:ext cx="256032" cy="256032"/>
          </a:xfrm>
          <a:prstGeom prst="ellipse">
            <a:avLst/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3"/>
          <p:cNvSpPr/>
          <p:nvPr/>
        </p:nvSpPr>
        <p:spPr>
          <a:xfrm>
            <a:off x="5669280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0350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/ validation des livrables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669280" y="3867912"/>
            <a:ext cx="256032" cy="256032"/>
          </a:xfrm>
          <a:prstGeom prst="ellipse">
            <a:avLst/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6"/>
          <p:cNvSpPr/>
          <p:nvPr/>
        </p:nvSpPr>
        <p:spPr>
          <a:xfrm>
            <a:off x="5669280" y="3867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035040" y="3813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compte-rendu (fait · reste · risques)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02 · Architecture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04 · Travaux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PROJET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Gantt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788920" y="1124712"/>
            <a:ext cx="96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88920" y="1417320"/>
            <a:ext cx="0" cy="308610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756660" y="1124712"/>
            <a:ext cx="96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756660" y="1417320"/>
            <a:ext cx="0" cy="308610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24400" y="1124712"/>
            <a:ext cx="96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4400" y="1417320"/>
            <a:ext cx="0" cy="308610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692140" y="1124712"/>
            <a:ext cx="96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92140" y="1417320"/>
            <a:ext cx="0" cy="308610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659880" y="1124712"/>
            <a:ext cx="96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59880" y="1417320"/>
            <a:ext cx="0" cy="308610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627620" y="1124712"/>
            <a:ext cx="967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7620" y="1417320"/>
            <a:ext cx="0" cy="308610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595360" y="1417320"/>
            <a:ext cx="0" cy="3086100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48640" y="1417320"/>
            <a:ext cx="8046720" cy="342900"/>
          </a:xfrm>
          <a:prstGeom prst="rect">
            <a:avLst/>
          </a:prstGeom>
          <a:solidFill>
            <a:srgbClr val="EAF1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66928" y="1417320"/>
            <a:ext cx="214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Cadrage &amp; socle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34640" y="1472184"/>
            <a:ext cx="876300" cy="233172"/>
          </a:xfrm>
          <a:prstGeom prst="roundRect">
            <a:avLst>
              <a:gd name="adj" fmla="val 15686"/>
            </a:avLst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66928" y="1760220"/>
            <a:ext cx="214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Collecte Bluesky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34640" y="1815084"/>
            <a:ext cx="876300" cy="233172"/>
          </a:xfrm>
          <a:prstGeom prst="roundRect">
            <a:avLst>
              <a:gd name="adj" fmla="val 15686"/>
            </a:avLst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48640" y="2103120"/>
            <a:ext cx="8046720" cy="342900"/>
          </a:xfrm>
          <a:prstGeom prst="rect">
            <a:avLst/>
          </a:prstGeom>
          <a:solidFill>
            <a:srgbClr val="EAF1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66928" y="2103120"/>
            <a:ext cx="214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Prétraitement NLP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02380" y="2157984"/>
            <a:ext cx="876300" cy="233172"/>
          </a:xfrm>
          <a:prstGeom prst="roundRect">
            <a:avLst>
              <a:gd name="adj" fmla="val 15686"/>
            </a:avLst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66928" y="2446020"/>
            <a:ext cx="214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Baseline fake news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0120" y="2500884"/>
            <a:ext cx="876300" cy="233172"/>
          </a:xfrm>
          <a:prstGeom prst="roundRect">
            <a:avLst>
              <a:gd name="adj" fmla="val 15686"/>
            </a:avLst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48640" y="2788920"/>
            <a:ext cx="8046720" cy="342900"/>
          </a:xfrm>
          <a:prstGeom prst="rect">
            <a:avLst/>
          </a:prstGeom>
          <a:solidFill>
            <a:srgbClr val="EAF1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66928" y="2788920"/>
            <a:ext cx="214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Analyse émotions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37860" y="2843784"/>
            <a:ext cx="876300" cy="233172"/>
          </a:xfrm>
          <a:prstGeom prst="roundRect">
            <a:avLst>
              <a:gd name="adj" fmla="val 15686"/>
            </a:avLst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66928" y="3131820"/>
            <a:ext cx="214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 Score &amp; explicabilité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37860" y="3186684"/>
            <a:ext cx="876300" cy="233172"/>
          </a:xfrm>
          <a:prstGeom prst="roundRect">
            <a:avLst>
              <a:gd name="adj" fmla="val 15686"/>
            </a:avLst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48640" y="3474720"/>
            <a:ext cx="8046720" cy="342900"/>
          </a:xfrm>
          <a:prstGeom prst="rect">
            <a:avLst/>
          </a:prstGeom>
          <a:solidFill>
            <a:srgbClr val="EAF1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66928" y="3474720"/>
            <a:ext cx="214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· Dashboard MVP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05600" y="3529584"/>
            <a:ext cx="876300" cy="233172"/>
          </a:xfrm>
          <a:prstGeom prst="roundRect">
            <a:avLst>
              <a:gd name="adj" fmla="val 15686"/>
            </a:avLst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66928" y="3817620"/>
            <a:ext cx="214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· Monitoring Green IT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73340" y="3872484"/>
            <a:ext cx="876300" cy="233172"/>
          </a:xfrm>
          <a:prstGeom prst="roundRect">
            <a:avLst>
              <a:gd name="adj" fmla="val 15686"/>
            </a:avLst>
          </a:prstGeom>
          <a:solidFill>
            <a:srgbClr val="E9A2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548640" y="4160520"/>
            <a:ext cx="8046720" cy="342900"/>
          </a:xfrm>
          <a:prstGeom prst="rect">
            <a:avLst/>
          </a:prstGeom>
          <a:solidFill>
            <a:srgbClr val="EAF1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66928" y="4160520"/>
            <a:ext cx="2148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· Tests &amp; </a:t>
            </a:r>
            <a:r>
              <a:rPr lang="en-US" sz="950" dirty="0" err="1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73340" y="4215384"/>
            <a:ext cx="876300" cy="233172"/>
          </a:xfrm>
          <a:prstGeom prst="roundRect">
            <a:avLst>
              <a:gd name="adj" fmla="val 15686"/>
            </a:avLst>
          </a:prstGeom>
          <a:solidFill>
            <a:srgbClr val="E9A2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788920" y="4572000"/>
            <a:ext cx="201168" cy="146304"/>
          </a:xfrm>
          <a:prstGeom prst="rect">
            <a:avLst/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035808" y="4517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 (P0–P6)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92040" y="4572000"/>
            <a:ext cx="201168" cy="146304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138928" y="4517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/ à venir (P7–P8)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03 · Suivi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04 · Travaux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PROJET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Kanban &amp; phases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87752" cy="3310128"/>
          </a:xfrm>
          <a:prstGeom prst="roundRect">
            <a:avLst>
              <a:gd name="adj" fmla="val 2120"/>
            </a:avLst>
          </a:prstGeom>
          <a:solidFill>
            <a:srgbClr val="EAF1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87752" cy="438912"/>
          </a:xfrm>
          <a:prstGeom prst="roundRect">
            <a:avLst>
              <a:gd name="adj" fmla="val 12500"/>
            </a:avLst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50592" y="13258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" y="1874520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86384" y="1979676"/>
            <a:ext cx="118872" cy="118872"/>
          </a:xfrm>
          <a:prstGeom prst="ellipse">
            <a:avLst/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Cadrage &amp; socle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7512" y="2272284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86384" y="2377440"/>
            <a:ext cx="118872" cy="118872"/>
          </a:xfrm>
          <a:prstGeom prst="ellipse">
            <a:avLst/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05840" y="2272284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Collecte Bluesky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" y="2670048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86384" y="2775204"/>
            <a:ext cx="118872" cy="118872"/>
          </a:xfrm>
          <a:prstGeom prst="ellipse">
            <a:avLst/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05840" y="2670048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Nettoyage NLP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" y="3067812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86384" y="3172968"/>
            <a:ext cx="118872" cy="118872"/>
          </a:xfrm>
          <a:prstGeom prst="ellipse">
            <a:avLst/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005840" y="3067812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Baseline fake news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" y="3465576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86384" y="3570732"/>
            <a:ext cx="118872" cy="118872"/>
          </a:xfrm>
          <a:prstGeom prst="ellipse">
            <a:avLst/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005840" y="3465576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Analyse émotions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" y="3863340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86384" y="3968496"/>
            <a:ext cx="118872" cy="118872"/>
          </a:xfrm>
          <a:prstGeom prst="ellipse">
            <a:avLst/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005840" y="3863340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 Score + explicabilité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7512" y="4261104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86384" y="4366260"/>
            <a:ext cx="118872" cy="118872"/>
          </a:xfrm>
          <a:prstGeom prst="ellipse">
            <a:avLst/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005840" y="4261104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· Dashboard MVP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55264" y="1325880"/>
            <a:ext cx="2587752" cy="3310128"/>
          </a:xfrm>
          <a:prstGeom prst="roundRect">
            <a:avLst>
              <a:gd name="adj" fmla="val 2120"/>
            </a:avLst>
          </a:prstGeom>
          <a:solidFill>
            <a:srgbClr val="EAF1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55264" y="1325880"/>
            <a:ext cx="2587752" cy="438912"/>
          </a:xfrm>
          <a:prstGeom prst="roundRect">
            <a:avLst>
              <a:gd name="adj" fmla="val 12500"/>
            </a:avLst>
          </a:prstGeom>
          <a:solidFill>
            <a:srgbClr val="E9A2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392424" y="132588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57216" y="13258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374136" y="1874520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493008" y="1979676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712464" y="1874520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· Monitoring énergétique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61888" y="1325880"/>
            <a:ext cx="2587752" cy="3310128"/>
          </a:xfrm>
          <a:prstGeom prst="roundRect">
            <a:avLst>
              <a:gd name="adj" fmla="val 2120"/>
            </a:avLst>
          </a:prstGeom>
          <a:solidFill>
            <a:srgbClr val="EAF1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5961888" y="1325880"/>
            <a:ext cx="2587752" cy="438912"/>
          </a:xfrm>
          <a:prstGeom prst="roundRect">
            <a:avLst>
              <a:gd name="adj" fmla="val 12500"/>
            </a:avLst>
          </a:prstGeom>
          <a:solidFill>
            <a:srgbClr val="76A5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099048" y="1325880"/>
            <a:ext cx="1764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863840" y="13258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080760" y="1874520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199632" y="1979676"/>
            <a:ext cx="118872" cy="118872"/>
          </a:xfrm>
          <a:prstGeom prst="ellipse">
            <a:avLst/>
          </a:prstGeom>
          <a:solidFill>
            <a:srgbClr val="76A5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419088" y="1874520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guide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0760" y="2272284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199632" y="2377440"/>
            <a:ext cx="118872" cy="118872"/>
          </a:xfrm>
          <a:prstGeom prst="ellipse">
            <a:avLst/>
          </a:prstGeom>
          <a:solidFill>
            <a:srgbClr val="76A5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419088" y="2272284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demonstration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80760" y="2670048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199632" y="2775204"/>
            <a:ext cx="118872" cy="118872"/>
          </a:xfrm>
          <a:prstGeom prst="ellipse">
            <a:avLst/>
          </a:prstGeom>
          <a:solidFill>
            <a:srgbClr val="76A5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419088" y="2670048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final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80760" y="3067812"/>
            <a:ext cx="23500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199632" y="3172968"/>
            <a:ext cx="118872" cy="118872"/>
          </a:xfrm>
          <a:prstGeom prst="ellipse">
            <a:avLst/>
          </a:prstGeom>
          <a:solidFill>
            <a:srgbClr val="76A5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6419088" y="3067812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03 · Suivi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04 · Travaux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RÉALISÉS ·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&amp; prétraitement NLP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731520" cy="73152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6276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Bluesky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27632" y="19202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 Jetstream : flux en temps reel de TOUS les posts publics (pas de filtre par mot-cle). 102 680 posts aspires en ~40 min et stockes dans MongoDB.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31520" y="3136392"/>
            <a:ext cx="731520" cy="73152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3136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27632" y="30449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NLP (pipeline Kedro)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27632" y="33375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etapes automatisees : suppression liens/mentions/hashtags, detection de la langue reelle du texte (et non le tag declare), normalisation, decoupage en mots, reduction a la racine. Seuls les posts en anglais sont conserves. Sortie : MongoDB.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463040"/>
            <a:ext cx="2743200" cy="2679192"/>
          </a:xfrm>
          <a:prstGeom prst="roundRect">
            <a:avLst>
              <a:gd name="adj" fmla="val 2730"/>
            </a:avLst>
          </a:prstGeom>
          <a:solidFill>
            <a:srgbClr val="0C343D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0350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VOLUMÉTRIE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9933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102 680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19933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collectes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0" y="25420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102 680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2542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temps reel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30906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11 281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en anglais (11 %)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36393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91 399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639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(autre langue / vide)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04 · Travaux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RÉALISÉS · 1b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: ce post contient-il une affirmation verifiable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731520" cy="73152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6276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identifié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27632" y="19202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baseline scorait 96,4 % des posts comme « fake », y compris des posts personnels (ex. « je suis fatigué »). Cause : entraîné sur des articles de presse, pas sur des posts sociaux.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31520" y="3136392"/>
            <a:ext cx="731520" cy="73152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3136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27632" y="30449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filtre d affirmations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27632" y="33375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classe en amont : « ce post affirme-t-il un fait verifiable ? »  OUI -&gt; analyse fake news  |  NON -&gt; post personnel ignore (ex : « je suis fatigue »).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463040"/>
            <a:ext cx="2743200" cy="2679192"/>
          </a:xfrm>
          <a:prstGeom prst="roundRect">
            <a:avLst>
              <a:gd name="adj" fmla="val 2730"/>
            </a:avLst>
          </a:prstGeom>
          <a:solidFill>
            <a:srgbClr val="0C343D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0350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9933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/ EN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19933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0" y="25420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2542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scoring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30906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88,5 %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affirmations factuelles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36393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2 550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639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filtrés (11,5 %)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04 · Travaux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RÉALISÉS ·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fake news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baseline : analyse statistique des mots + classification probabiliste</a:t>
            </a:r>
            <a:r>
              <a:rPr lang="en-US" sz="140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Entraine sur 40 000 articles (HuggingFace) : vrais articles journalistiques vs faux
Split train/validation/test ; precision et rappel mesures separement
Modele sauvegarde puis applique sur les posts Bluesky
Sortie : score de credibilite, etiquette fake/real, niveau d alerte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97,7 %   de precision du modele sur les donnees de test</a:t>
            </a:r>
            <a:r>
              <a:rPr lang="en-US" sz="1200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classés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806440" y="1554480"/>
          <a:ext cx="28346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04 · Travaux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RÉALISÉS ·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Émotions &amp; score de crédibilité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émotionnelle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(sentiment) + lexique custom : colère, peur, joie, tristesse, surprise, humour.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377440"/>
          <a:ext cx="37947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709160" y="1417320"/>
            <a:ext cx="3886200" cy="3154680"/>
          </a:xfrm>
          <a:prstGeom prst="roundRect">
            <a:avLst>
              <a:gd name="adj" fmla="val 2319"/>
            </a:avLst>
          </a:prstGeom>
          <a:solidFill>
            <a:srgbClr val="0C343D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937760" y="15727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final &amp; explicabilité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937760" y="19019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combiné, normalisé 0–100, avec une phrase explicative lisible par poste (fact-checking).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37760" y="254203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852160" y="25420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fake news (modèle)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37760" y="304495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852160" y="30449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sentiment négatif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7760" y="354787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C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852160" y="3547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émotion (colère/peur)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937760" y="411480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937760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final de credibilite (0-100) et niveau d alerte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04 · Travaux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RÉALISÉS ·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MVP &amp; agent 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76656" y="1591056"/>
            <a:ext cx="420624" cy="420624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824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visualisations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34440" y="181051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alertes hautes, score moyen, séries temporelles.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76656" y="2368296"/>
            <a:ext cx="420624" cy="420624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4597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313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dynamiques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234440" y="25877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Langue, niveau d'alerte, émotion, date, recherche libre.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76656" y="3145536"/>
            <a:ext cx="420624" cy="420624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23697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090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détaillée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34440" y="336499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post avec son score et le détail (breakdown).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50292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76656" y="3922776"/>
            <a:ext cx="420624" cy="420624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01421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867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(gratuit)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234440" y="414223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Groq · Llama 3.1 pour interroger les tendances.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852160" y="1463040"/>
            <a:ext cx="2743200" cy="3099816"/>
          </a:xfrm>
          <a:prstGeom prst="roundRect">
            <a:avLst>
              <a:gd name="adj" fmla="val 2667"/>
            </a:avLst>
          </a:prstGeom>
          <a:solidFill>
            <a:srgbClr val="134F5C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6903720" y="1828800"/>
            <a:ext cx="640080" cy="640080"/>
          </a:xfrm>
          <a:prstGeom prst="ellipse">
            <a:avLst/>
          </a:prstGeom>
          <a:solidFill>
            <a:srgbClr val="0C343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2592" y="194767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8932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035040" y="2944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en conditions réelles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72200" y="36118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3"/>
          <p:cNvSpPr/>
          <p:nvPr/>
        </p:nvSpPr>
        <p:spPr>
          <a:xfrm>
            <a:off x="6172200" y="3611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04 · Travaux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REALISES - 5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Ingenierie &amp; automatisation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731520" cy="73152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6276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NLP structure (Kedro 1.2)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27632" y="19202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etape est une fonction independante, testee et reexecutable. En cas d erreur, on peut rejouer uniquement l etape defaillante. Les resultats intermediaires sont sauvegardes : pas de perte de donnees. Visualisation graphique du pipeline avec kedro viz.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31520" y="3136392"/>
            <a:ext cx="731520" cy="73152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3136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27632" y="30449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+ GitHub Actions CI/CD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27632" y="33375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: planificateur automatique qui collecte et nettoie les posts chaque nuit a minuit, sans intervention manuelle. GitHub Actions : a chaque modification du code, 25 tests automatiques verifient que rien n est casse.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463040"/>
            <a:ext cx="2743200" cy="2679192"/>
          </a:xfrm>
          <a:prstGeom prst="roundRect">
            <a:avLst>
              <a:gd name="adj" fmla="val 2730"/>
            </a:avLst>
          </a:prstGeom>
          <a:solidFill>
            <a:srgbClr val="0C343D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0350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METRIQUES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9933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19933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Kedro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0" y="25420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2542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30906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automatique nocturne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36393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639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verte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04 · Travaux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3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3108960" cy="310896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sur la base initiale (22 408 posts) - base de reference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56232" cy="1234440"/>
          </a:xfrm>
          <a:prstGeom prst="roundRect">
            <a:avLst>
              <a:gd name="adj" fmla="val 5926"/>
            </a:avLst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517904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22 408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de la base initiale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3180" y="1417320"/>
            <a:ext cx="1856232" cy="1234440"/>
          </a:xfrm>
          <a:prstGeom prst="roundRect">
            <a:avLst>
              <a:gd name="adj" fmla="val 5926"/>
            </a:avLst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628900" y="1517904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97,7 %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28900" y="221284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du modele (F1-score)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1856232" cy="1234440"/>
          </a:xfrm>
          <a:prstGeom prst="roundRect">
            <a:avLst>
              <a:gd name="adj" fmla="val 5926"/>
            </a:avLst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663440" y="1517904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19 634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221284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analysés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52260" y="1417320"/>
            <a:ext cx="1856232" cy="1234440"/>
          </a:xfrm>
          <a:prstGeom prst="roundRect">
            <a:avLst>
              <a:gd name="adj" fmla="val 5926"/>
            </a:avLst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697980" y="1517904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3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4 912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97980" y="2212848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hautes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niveaux d'alerte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10128"/>
            <a:ext cx="548878" cy="457200"/>
          </a:xfrm>
          <a:prstGeom prst="rect">
            <a:avLst/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3310128"/>
            <a:ext cx="548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1 545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518" y="3310128"/>
            <a:ext cx="5565445" cy="457200"/>
          </a:xfrm>
          <a:prstGeom prst="rect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097518" y="3310128"/>
            <a:ext cx="5565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13 177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62962" y="3310128"/>
            <a:ext cx="1932398" cy="457200"/>
          </a:xfrm>
          <a:prstGeom prst="rect">
            <a:avLst/>
          </a:prstGeom>
          <a:solidFill>
            <a:srgbClr val="E15D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662962" y="3310128"/>
            <a:ext cx="19323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4 912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164592" cy="164592"/>
          </a:xfrm>
          <a:prstGeom prst="ellipse">
            <a:avLst/>
          </a:prstGeom>
          <a:solidFill>
            <a:srgbClr val="5FA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86384" y="3922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— 1 545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77440" y="3977640"/>
            <a:ext cx="164592" cy="164592"/>
          </a:xfrm>
          <a:prstGeom prst="ellipse">
            <a:avLst/>
          </a:prstGeom>
          <a:solidFill>
            <a:srgbClr val="E9A2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615184" y="3922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— 13 177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0" y="3977640"/>
            <a:ext cx="164592" cy="164592"/>
          </a:xfrm>
          <a:prstGeom prst="ellipse">
            <a:avLst/>
          </a:prstGeom>
          <a:solidFill>
            <a:srgbClr val="E15D4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443984" y="3922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 — 4 912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crédibilité moyen : 0,44 / 1  ·  émotion dominante la plus fréquente : négatif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04 · Travaux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05 · Resultats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carbone du pipeline (CodeCarbon)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731520" cy="73152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6276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CodeCarbon intégré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27632" y="19202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CodeCarbon mesure l'empreinte du pipeline ML : entraînement TF-IDF + LogReg et analyse émotionnelle (batch). Sortie models/emissions.csv (kgCO₂eq + kWh par run).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074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31520" y="3136392"/>
            <a:ext cx="731520" cy="73152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3136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27632" y="30449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&amp; comparaison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27632" y="33375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runs par étape, machine locale, mix électrique France (Île-de-France). Indicateurs : énergie (Wh), CO₂ (gCO₂eq), durée — base de comparaison entre configurations.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463040"/>
            <a:ext cx="2743200" cy="2679192"/>
          </a:xfrm>
          <a:prstGeom prst="roundRect">
            <a:avLst>
              <a:gd name="adj" fmla="val 2730"/>
            </a:avLst>
          </a:prstGeom>
          <a:solidFill>
            <a:srgbClr val="0C343D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0350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PAR RUN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9933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19933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gCO₂eq · pipeline complet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0" y="25420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25420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 consommés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30906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3090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d'exécution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36393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639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en voiture (équiv.)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04 · Travaux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05 · Resultats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581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49808" y="1700784"/>
            <a:ext cx="585216" cy="585216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379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45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énergétique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1956816"/>
            <a:ext cx="2852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désormais mesurée (CodeCarbon) : place à l'optimisation — comparer les configurations, traiter en heures creuses, alléger le modèle.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910328" y="1700784"/>
            <a:ext cx="585216" cy="585216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83794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45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avancés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669280" y="1956816"/>
            <a:ext cx="2852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la baseline à BERT / RoBERTa et un modèle d'émotions spécialisé pour gagner en finesse.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749808" y="3209544"/>
            <a:ext cx="585216" cy="585216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34670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54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465576"/>
            <a:ext cx="2852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automatiques en place (25 tests, GitHub Actions). Prochaines etapes : outils de monitoring des erreurs, documentation utilisateur et video de demonstration.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4709160" y="29718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C343D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910328" y="3209544"/>
            <a:ext cx="585216" cy="585216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34670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154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3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l'échelle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669280" y="3465576"/>
            <a:ext cx="28529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scalable avec Spark / Kafka pour le temps réel et de plus gros volumes.</a:t>
            </a:r>
            <a:endParaRPr lang="en-US" sz="1020" dirty="0"/>
          </a:p>
        </p:txBody>
      </p:sp>
      <p:sp>
        <p:nvSpPr>
          <p:cNvPr id="24" name="Text 18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Thumalien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01 · Contexte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02 · 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8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03 · Suivi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04 · Travaux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0"/>
            <a:ext cx="1524000" cy="301752"/>
          </a:xfrm>
          <a:prstGeom prst="rect">
            <a:avLst/>
          </a:prstGeom>
          <a:solidFill>
            <a:srgbClr val="D8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0">
                <a:solidFill>
                  <a:srgbClr val="3A5278"/>
                </a:solidFill>
              </a:rPr>
              <a:t>05 · Resultats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0" y="0"/>
            <a:ext cx="1524000" cy="30175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06 · Perspectives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3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468880"/>
            <a:ext cx="3840480" cy="384048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005840" y="-1188720"/>
            <a:ext cx="2926080" cy="2926080"/>
          </a:xfrm>
          <a:prstGeom prst="ellipse">
            <a:avLst/>
          </a:prstGeom>
          <a:solidFill>
            <a:srgbClr val="134F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3063240"/>
            <a:ext cx="164592" cy="164592"/>
          </a:xfrm>
          <a:prstGeom prst="ellipse">
            <a:avLst/>
          </a:prstGeom>
          <a:solidFill>
            <a:srgbClr val="D9EAD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9264" y="3063240"/>
            <a:ext cx="164592" cy="164592"/>
          </a:xfrm>
          <a:prstGeom prst="ellipse">
            <a:avLst/>
          </a:prstGeom>
          <a:solidFill>
            <a:srgbClr val="76A5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280160" y="3063240"/>
            <a:ext cx="164592" cy="164592"/>
          </a:xfrm>
          <a:prstGeom prst="ellipse">
            <a:avLst/>
          </a:prstGeom>
          <a:solidFill>
            <a:srgbClr val="45818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20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35021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6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github.com/Atixu/Projet_Etude_M1_SDV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77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3959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Guillaume REAULT  &amp;  William BELLON  —  M1 Big Data &amp; IA · SDV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1205</Words>
  <Application>Microsoft Office PowerPoint</Application>
  <PresentationFormat>Affichage à l'écran (16:9)</PresentationFormat>
  <Paragraphs>273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Thumalien – Détection de fake news sur Bluesky</dc:title>
  <dc:subject>PptxGenJS Presentation</dc:subject>
  <dc:creator>Guillaume REAULT &amp; William BELLON</dc:creator>
  <cp:lastModifiedBy>William BELLON</cp:lastModifiedBy>
  <cp:revision>2</cp:revision>
  <dcterms:created xsi:type="dcterms:W3CDTF">2026-06-23T13:42:15Z</dcterms:created>
  <dcterms:modified xsi:type="dcterms:W3CDTF">2026-06-25T07:25:33Z</dcterms:modified>
</cp:coreProperties>
</file>